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CDLD</c:v>
                </c:pt>
              </c:strCache>
            </c:strRef>
          </c:tx>
          <c:spPr>
            <a:solidFill>
              <a:srgbClr val="187D80"/>
            </a:solidFill>
            <a:ln w="25400" cap="flat">
              <a:solidFill>
                <a:srgbClr val="187D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87D80"/>
              </a:solidFill>
              <a:ln w="9525" cap="flat">
                <a:solidFill>
                  <a:srgbClr val="187D80"/>
                </a:solidFill>
                <a:prstDash val="solid"/>
                <a:round/>
              </a:ln>
              <a:effectLst/>
            </c:spPr>
          </c:marker>
          <c:cat>
            <c:multiLvlStrRef>
              <c:f>Sheet1!$A$2:$A$6</c:f>
              <c:multiLvlStrCache>
                <c:ptCount val="5"/>
                <c:lvl>
                  <c:pt idx="0">
                    <c:v>10</c:v>
                  </c:pt>
                  <c:pt idx="1">
                    <c:v>20</c:v>
                  </c:pt>
                  <c:pt idx="2">
                    <c:v>30</c:v>
                  </c:pt>
                  <c:pt idx="3">
                    <c:v>40</c:v>
                  </c:pt>
                  <c:pt idx="4">
                    <c:v>50</c:v>
                  </c:pt>
                </c:lvl>
              </c:multiLvlStrCache>
            </c:multiLvlStrRef>
          </c:cat>
          <c:val>
            <c:numRef>
              <c:f>Sheet1!$B$2:$B$6</c:f>
              <c:numCache>
                <c:formatCode>General</c:formatCode>
                <c:ptCount val="5"/>
                <c:pt idx="0">
                  <c:v>0.8236</c:v>
                </c:pt>
                <c:pt idx="1">
                  <c:v>0.8254</c:v>
                </c:pt>
                <c:pt idx="2">
                  <c:v>0.8223</c:v>
                </c:pt>
                <c:pt idx="3">
                  <c:v>0.8246</c:v>
                </c:pt>
                <c:pt idx="4">
                  <c:v>0.825</c:v>
                </c:pt>
              </c:numCache>
            </c:numRef>
          </c:val>
          <c:smooth val="0"/>
        </c:ser>
        <c:ser>
          <c:idx val="1"/>
          <c:order val="1"/>
          <c:tx>
            <c:strRef>
              <c:f>Sheet1!$C$1</c:f>
              <c:strCache>
                <c:ptCount val="1"/>
                <c:pt idx="0">
                  <c:v>MF</c:v>
                </c:pt>
              </c:strCache>
            </c:strRef>
          </c:tx>
          <c:spPr>
            <a:solidFill>
              <a:srgbClr val="B45E38"/>
            </a:solidFill>
            <a:ln w="25400" cap="flat">
              <a:solidFill>
                <a:srgbClr val="B45E3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45E38"/>
              </a:solidFill>
              <a:ln w="9525" cap="flat">
                <a:solidFill>
                  <a:srgbClr val="B45E38"/>
                </a:solidFill>
                <a:prstDash val="solid"/>
                <a:round/>
              </a:ln>
              <a:effectLst/>
            </c:spPr>
          </c:marker>
          <c:cat>
            <c:multiLvlStrRef>
              <c:f>Sheet1!$A$2:$A$6</c:f>
              <c:multiLvlStrCache>
                <c:ptCount val="5"/>
                <c:lvl>
                  <c:pt idx="0">
                    <c:v>10</c:v>
                  </c:pt>
                  <c:pt idx="1">
                    <c:v>20</c:v>
                  </c:pt>
                  <c:pt idx="2">
                    <c:v>30</c:v>
                  </c:pt>
                  <c:pt idx="3">
                    <c:v>40</c:v>
                  </c:pt>
                  <c:pt idx="4">
                    <c:v>50</c:v>
                  </c:pt>
                </c:lvl>
              </c:multiLvlStrCache>
            </c:multiLvlStrRef>
          </c:cat>
          <c:val>
            <c:numRef>
              <c:f>Sheet1!$C$2:$C$6</c:f>
              <c:numCache>
                <c:formatCode>General</c:formatCode>
                <c:ptCount val="5"/>
                <c:pt idx="0">
                  <c:v>0.8063</c:v>
                </c:pt>
                <c:pt idx="1">
                  <c:v>0.8315</c:v>
                </c:pt>
                <c:pt idx="2">
                  <c:v>0.8378</c:v>
                </c:pt>
                <c:pt idx="3">
                  <c:v>0.8451</c:v>
                </c:pt>
                <c:pt idx="4">
                  <c:v>0.8478</c:v>
                </c:pt>
              </c:numCache>
            </c:numRef>
          </c:val>
          <c:smooth val="0"/>
        </c:ser>
        <c:ser>
          <c:idx val="2"/>
          <c:order val="2"/>
          <c:tx>
            <c:strRef>
              <c:f>Sheet1!$D$1</c:f>
              <c:strCache>
                <c:ptCount val="1"/>
                <c:pt idx="0">
                  <c:v>AST 평균</c:v>
                </c:pt>
              </c:strCache>
            </c:strRef>
          </c:tx>
          <c:spPr>
            <a:solidFill>
              <a:srgbClr val="303B40"/>
            </a:solidFill>
            <a:ln w="25400" cap="flat">
              <a:solidFill>
                <a:srgbClr val="303B4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03B40"/>
              </a:solidFill>
              <a:ln w="9525" cap="flat">
                <a:solidFill>
                  <a:srgbClr val="303B40"/>
                </a:solidFill>
                <a:prstDash val="solid"/>
                <a:round/>
              </a:ln>
              <a:effectLst/>
            </c:spPr>
          </c:marker>
          <c:cat>
            <c:multiLvlStrRef>
              <c:f>Sheet1!$A$2:$A$6</c:f>
              <c:multiLvlStrCache>
                <c:ptCount val="5"/>
                <c:lvl>
                  <c:pt idx="0">
                    <c:v>10</c:v>
                  </c:pt>
                  <c:pt idx="1">
                    <c:v>20</c:v>
                  </c:pt>
                  <c:pt idx="2">
                    <c:v>30</c:v>
                  </c:pt>
                  <c:pt idx="3">
                    <c:v>40</c:v>
                  </c:pt>
                  <c:pt idx="4">
                    <c:v>50</c:v>
                  </c:pt>
                </c:lvl>
              </c:multiLvlStrCache>
            </c:multiLvlStrRef>
          </c:cat>
          <c:val>
            <c:numRef>
              <c:f>Sheet1!$D$2:$D$6</c:f>
              <c:numCache>
                <c:formatCode>General</c:formatCode>
                <c:ptCount val="5"/>
                <c:pt idx="0">
                  <c:v>0.8367</c:v>
                </c:pt>
                <c:pt idx="1">
                  <c:v>0.8367</c:v>
                </c:pt>
                <c:pt idx="2">
                  <c:v>0.8367</c:v>
                </c:pt>
                <c:pt idx="3">
                  <c:v>0.8367</c:v>
                </c:pt>
                <c:pt idx="4">
                  <c:v>0.8367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AAB9BC"/>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7"/>
          <c:min val="0.78"/>
        </c:scaling>
        <c:delete val="0"/>
        <c:axPos val="l"/>
        <c:majorGridlines>
          <c:spPr>
            <a:ln w="12700" cap="flat">
              <a:solidFill>
                <a:srgbClr val="E3E9E9"/>
              </a:solidFill>
              <a:prstDash val="solid"/>
              <a:round/>
            </a:ln>
          </c:spPr>
        </c:majorGridlines>
        <c:numFmt formatCode="General" sourceLinked="0"/>
        <c:majorTickMark val="out"/>
        <c:minorTickMark val="none"/>
        <c:tickLblPos val="nextTo"/>
        <c:spPr>
          <a:ln w="12700" cap="flat">
            <a:solidFill>
              <a:srgbClr val="FFFFFF"/>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majorUnit val="0.02"/>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CDLD</c:v>
                </c:pt>
              </c:strCache>
            </c:strRef>
          </c:tx>
          <c:spPr>
            <a:solidFill>
              <a:srgbClr val="187D80"/>
            </a:solidFill>
            <a:ln w="25400" cap="flat">
              <a:solidFill>
                <a:srgbClr val="187D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87D80"/>
              </a:solidFill>
              <a:ln w="9525" cap="flat">
                <a:solidFill>
                  <a:srgbClr val="187D80"/>
                </a:solidFill>
                <a:prstDash val="solid"/>
                <a:round/>
              </a:ln>
              <a:effectLst/>
            </c:spPr>
          </c:marker>
          <c:cat>
            <c:multiLvlStrRef>
              <c:f>Sheet1!$A$2:$A$6</c:f>
              <c:multiLvlStrCache>
                <c:ptCount val="5"/>
                <c:lvl>
                  <c:pt idx="0">
                    <c:v>10</c:v>
                  </c:pt>
                  <c:pt idx="1">
                    <c:v>20</c:v>
                  </c:pt>
                  <c:pt idx="2">
                    <c:v>30</c:v>
                  </c:pt>
                  <c:pt idx="3">
                    <c:v>40</c:v>
                  </c:pt>
                  <c:pt idx="4">
                    <c:v>50</c:v>
                  </c:pt>
                </c:lvl>
              </c:multiLvlStrCache>
            </c:multiLvlStrRef>
          </c:cat>
          <c:val>
            <c:numRef>
              <c:f>Sheet1!$B$2:$B$6</c:f>
              <c:numCache>
                <c:formatCode>General</c:formatCode>
                <c:ptCount val="5"/>
                <c:pt idx="0">
                  <c:v>0.8498</c:v>
                </c:pt>
                <c:pt idx="1">
                  <c:v>0.849</c:v>
                </c:pt>
                <c:pt idx="2">
                  <c:v>0.8463</c:v>
                </c:pt>
                <c:pt idx="3">
                  <c:v>0.8461</c:v>
                </c:pt>
                <c:pt idx="4">
                  <c:v>0.8474</c:v>
                </c:pt>
              </c:numCache>
            </c:numRef>
          </c:val>
          <c:smooth val="0"/>
        </c:ser>
        <c:ser>
          <c:idx val="1"/>
          <c:order val="1"/>
          <c:tx>
            <c:strRef>
              <c:f>Sheet1!$C$1</c:f>
              <c:strCache>
                <c:ptCount val="1"/>
                <c:pt idx="0">
                  <c:v>MF</c:v>
                </c:pt>
              </c:strCache>
            </c:strRef>
          </c:tx>
          <c:spPr>
            <a:solidFill>
              <a:srgbClr val="B45E38"/>
            </a:solidFill>
            <a:ln w="25400" cap="flat">
              <a:solidFill>
                <a:srgbClr val="B45E3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45E38"/>
              </a:solidFill>
              <a:ln w="9525" cap="flat">
                <a:solidFill>
                  <a:srgbClr val="B45E38"/>
                </a:solidFill>
                <a:prstDash val="solid"/>
                <a:round/>
              </a:ln>
              <a:effectLst/>
            </c:spPr>
          </c:marker>
          <c:cat>
            <c:multiLvlStrRef>
              <c:f>Sheet1!$A$2:$A$6</c:f>
              <c:multiLvlStrCache>
                <c:ptCount val="5"/>
                <c:lvl>
                  <c:pt idx="0">
                    <c:v>10</c:v>
                  </c:pt>
                  <c:pt idx="1">
                    <c:v>20</c:v>
                  </c:pt>
                  <c:pt idx="2">
                    <c:v>30</c:v>
                  </c:pt>
                  <c:pt idx="3">
                    <c:v>40</c:v>
                  </c:pt>
                  <c:pt idx="4">
                    <c:v>50</c:v>
                  </c:pt>
                </c:lvl>
              </c:multiLvlStrCache>
            </c:multiLvlStrRef>
          </c:cat>
          <c:val>
            <c:numRef>
              <c:f>Sheet1!$C$2:$C$6</c:f>
              <c:numCache>
                <c:formatCode>General</c:formatCode>
                <c:ptCount val="5"/>
                <c:pt idx="0">
                  <c:v>0.7865</c:v>
                </c:pt>
                <c:pt idx="1">
                  <c:v>0.8076</c:v>
                </c:pt>
                <c:pt idx="2">
                  <c:v>0.816</c:v>
                </c:pt>
                <c:pt idx="3">
                  <c:v>0.8194</c:v>
                </c:pt>
                <c:pt idx="4">
                  <c:v>0.8193</c:v>
                </c:pt>
              </c:numCache>
            </c:numRef>
          </c:val>
          <c:smooth val="0"/>
        </c:ser>
        <c:ser>
          <c:idx val="2"/>
          <c:order val="2"/>
          <c:tx>
            <c:strRef>
              <c:f>Sheet1!$D$1</c:f>
              <c:strCache>
                <c:ptCount val="1"/>
                <c:pt idx="0">
                  <c:v>AST 평균</c:v>
                </c:pt>
              </c:strCache>
            </c:strRef>
          </c:tx>
          <c:spPr>
            <a:solidFill>
              <a:srgbClr val="303B40"/>
            </a:solidFill>
            <a:ln w="25400" cap="flat">
              <a:solidFill>
                <a:srgbClr val="303B4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03B40"/>
              </a:solidFill>
              <a:ln w="9525" cap="flat">
                <a:solidFill>
                  <a:srgbClr val="303B40"/>
                </a:solidFill>
                <a:prstDash val="solid"/>
                <a:round/>
              </a:ln>
              <a:effectLst/>
            </c:spPr>
          </c:marker>
          <c:cat>
            <c:multiLvlStrRef>
              <c:f>Sheet1!$A$2:$A$6</c:f>
              <c:multiLvlStrCache>
                <c:ptCount val="5"/>
                <c:lvl>
                  <c:pt idx="0">
                    <c:v>10</c:v>
                  </c:pt>
                  <c:pt idx="1">
                    <c:v>20</c:v>
                  </c:pt>
                  <c:pt idx="2">
                    <c:v>30</c:v>
                  </c:pt>
                  <c:pt idx="3">
                    <c:v>40</c:v>
                  </c:pt>
                  <c:pt idx="4">
                    <c:v>50</c:v>
                  </c:pt>
                </c:lvl>
              </c:multiLvlStrCache>
            </c:multiLvlStrRef>
          </c:cat>
          <c:val>
            <c:numRef>
              <c:f>Sheet1!$D$2:$D$6</c:f>
              <c:numCache>
                <c:formatCode>General</c:formatCode>
                <c:ptCount val="5"/>
                <c:pt idx="0">
                  <c:v>0.8601</c:v>
                </c:pt>
                <c:pt idx="1">
                  <c:v>0.8601</c:v>
                </c:pt>
                <c:pt idx="2">
                  <c:v>0.8601</c:v>
                </c:pt>
                <c:pt idx="3">
                  <c:v>0.8601</c:v>
                </c:pt>
                <c:pt idx="4">
                  <c:v>0.8601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AAB9BC"/>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8"/>
          <c:min val="0.77"/>
        </c:scaling>
        <c:delete val="0"/>
        <c:axPos val="l"/>
        <c:majorGridlines>
          <c:spPr>
            <a:ln w="12700" cap="flat">
              <a:solidFill>
                <a:srgbClr val="E3E9E9"/>
              </a:solidFill>
              <a:prstDash val="solid"/>
              <a:round/>
            </a:ln>
          </c:spPr>
        </c:majorGridlines>
        <c:numFmt formatCode="General" sourceLinked="0"/>
        <c:majorTickMark val="out"/>
        <c:minorTickMark val="none"/>
        <c:tickLblPos val="nextTo"/>
        <c:spPr>
          <a:ln w="12700" cap="flat">
            <a:solidFill>
              <a:srgbClr val="FFFFFF"/>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majorUnit val="0.02"/>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MIMIC</c:v>
                </c:pt>
              </c:strCache>
            </c:strRef>
          </c:tx>
          <c:spPr>
            <a:solidFill>
              <a:srgbClr val="187D80"/>
            </a:solidFill>
            <a:ln w="25400" cap="flat">
              <a:solidFill>
                <a:srgbClr val="187D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87D80"/>
              </a:solidFill>
              <a:ln w="9525" cap="flat">
                <a:solidFill>
                  <a:srgbClr val="187D80"/>
                </a:solidFill>
                <a:prstDash val="solid"/>
                <a:round/>
              </a:ln>
              <a:effectLst/>
            </c:spPr>
          </c:marker>
          <c:cat>
            <c:multiLvlStrRef>
              <c:f>Sheet1!$A$2:$A$7</c:f>
              <c:multiLvlStrCache>
                <c:ptCount val="6"/>
                <c:lvl>
                  <c:pt idx="0">
                    <c:v>0</c:v>
                  </c:pt>
                  <c:pt idx="1">
                    <c:v>10</c:v>
                  </c:pt>
                  <c:pt idx="2">
                    <c:v>20</c:v>
                  </c:pt>
                  <c:pt idx="3">
                    <c:v>30</c:v>
                  </c:pt>
                  <c:pt idx="4">
                    <c:v>40</c:v>
                  </c:pt>
                  <c:pt idx="5">
                    <c:v>50</c:v>
                  </c:pt>
                </c:lvl>
              </c:multiLvlStrCache>
            </c:multiLvlStrRef>
          </c:cat>
          <c:val>
            <c:numRef>
              <c:f>Sheet1!$B$2:$B$7</c:f>
              <c:numCache>
                <c:formatCode>General</c:formatCode>
                <c:ptCount val="6"/>
                <c:pt idx="0">
                  <c:v>0.6493</c:v>
                </c:pt>
                <c:pt idx="1">
                  <c:v>0.5645</c:v>
                </c:pt>
                <c:pt idx="2">
                  <c:v>0.4803</c:v>
                </c:pt>
                <c:pt idx="3">
                  <c:v>0.4536</c:v>
                </c:pt>
                <c:pt idx="4">
                  <c:v>0.4339</c:v>
                </c:pt>
                <c:pt idx="5">
                  <c:v>0.4228</c:v>
                </c:pt>
              </c:numCache>
            </c:numRef>
          </c:val>
          <c:smooth val="0"/>
        </c:ser>
        <c:ser>
          <c:idx val="1"/>
          <c:order val="1"/>
          <c:tx>
            <c:strRef>
              <c:f>Sheet1!$C$1</c:f>
              <c:strCache>
                <c:ptCount val="1"/>
                <c:pt idx="0">
                  <c:v>eICU</c:v>
                </c:pt>
              </c:strCache>
            </c:strRef>
          </c:tx>
          <c:spPr>
            <a:solidFill>
              <a:srgbClr val="B45E38"/>
            </a:solidFill>
            <a:ln w="25400" cap="flat">
              <a:solidFill>
                <a:srgbClr val="B45E3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45E38"/>
              </a:solidFill>
              <a:ln w="9525" cap="flat">
                <a:solidFill>
                  <a:srgbClr val="B45E38"/>
                </a:solidFill>
                <a:prstDash val="solid"/>
                <a:round/>
              </a:ln>
              <a:effectLst/>
            </c:spPr>
          </c:marker>
          <c:cat>
            <c:multiLvlStrRef>
              <c:f>Sheet1!$A$2:$A$7</c:f>
              <c:multiLvlStrCache>
                <c:ptCount val="6"/>
                <c:lvl>
                  <c:pt idx="0">
                    <c:v>0</c:v>
                  </c:pt>
                  <c:pt idx="1">
                    <c:v>10</c:v>
                  </c:pt>
                  <c:pt idx="2">
                    <c:v>20</c:v>
                  </c:pt>
                  <c:pt idx="3">
                    <c:v>30</c:v>
                  </c:pt>
                  <c:pt idx="4">
                    <c:v>40</c:v>
                  </c:pt>
                  <c:pt idx="5">
                    <c:v>50</c:v>
                  </c:pt>
                </c:lvl>
              </c:multiLvlStrCache>
            </c:multiLvlStrRef>
          </c:cat>
          <c:val>
            <c:numRef>
              <c:f>Sheet1!$C$2:$C$7</c:f>
              <c:numCache>
                <c:formatCode>General</c:formatCode>
                <c:ptCount val="6"/>
                <c:pt idx="0">
                  <c:v>0.5552</c:v>
                </c:pt>
                <c:pt idx="1">
                  <c:v>0.454</c:v>
                </c:pt>
                <c:pt idx="2">
                  <c:v>0.3995</c:v>
                </c:pt>
                <c:pt idx="3">
                  <c:v>0.3759</c:v>
                </c:pt>
                <c:pt idx="4">
                  <c:v>0.3668</c:v>
                </c:pt>
                <c:pt idx="5">
                  <c:v>0.36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AAB9BC"/>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
          <c:min val="0.3"/>
        </c:scaling>
        <c:delete val="0"/>
        <c:axPos val="l"/>
        <c:majorGridlines>
          <c:spPr>
            <a:ln w="12700" cap="flat">
              <a:solidFill>
                <a:srgbClr val="E3E9E9"/>
              </a:solidFill>
              <a:prstDash val="solid"/>
              <a:round/>
            </a:ln>
          </c:spPr>
        </c:majorGridlines>
        <c:numFmt formatCode="General" sourceLinked="0"/>
        <c:majorTickMark val="out"/>
        <c:minorTickMark val="none"/>
        <c:tickLblPos val="nextTo"/>
        <c:spPr>
          <a:ln w="12700" cap="flat">
            <a:solidFill>
              <a:srgbClr val="FFFFFF"/>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발표는 항생제 감수성 검사 결과가 일부만 관측된 상황에서, 사전학습에 포함되지 않았던 목표 항생제를 예측하는 연구입니다. 발표의 중심은 어떤 지표에서 학습과 적응이 기여했는지입니다.
출처: CDLD-AST 연구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임상 검사 자료에는 항생제별 감수성 결과가 행렬 형태로 존재합니다. 이 연구에서는 기존 항생제의 일부 결과와 소수의 목표약 검사 사례로, 다른 사례의 목표약 반응을 예측합니다. 여기서 신규약은 모델이 사전학습에서 보지 않은 약물입니다. 이번 연구는 예측 모델에 새 항생제를 도입하는 상황을 다룹니다.
출처: §1, §3.2–3.3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기존약의 이름과 감수성 여부가 입력입니다. 목표약 결과는 이 네 입력에서 제외합니다. 목표약 정답을 제공하는 사례는 support, 가리고 예측하는 사례는 query입니다. 네 기존약은 모든 사례에서 같은 약물일 필요가 없습니다. I와 R은 이번 분석에서 합쳐 비감수성으로 처리했습니다.
출처: §3.1, §3.3 가상 예시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CDLD는 Cyclic Dual Latent Discovery의 약자입니다. 처음에는 추천시스템의 사용자와 항목 사이 반응에서 두 대상의 latent 특성을 발견하는 방법으로 제안됐습니다. 이 연구에서는 두 대상을 배양 사례와 항생제로 바꿉니다. 표의 각 칸은 두 대상이 만났을 때 관측한 감수성 결과입니다. 가상 행렬이며 물음표는 미관측을 뜻합니다. 관측 관계를 이용해 양쪽 수치 표현을 번갈아 갱신합니다.
출처: Rim et al., IEEE Access 2025. DOI: 10.1109/ACCESS.2025.3526270; Methods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관측이 부족한 새 대상이 들어오는 문제를 cold start라고 부릅니다. CDLD-CSP는 기존에 학습한 관계 모델을 활용해 새 대상의 latent를 소수 관측으로 추정하는 접근입니다. 기존 지식이 소표본 예측을 도울 수 있다는 것이 적용 동기이며, 실제 이득은 이번 항생제 실험에서 비교 평가합니다. 적은 관측에서 항상 우월하다고 가정하지 않습니다.
출처: Hong et al., CDLD-CSP, IEEE Access 2025. DOI: 10.1109/ACCESS.2025.3622159;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CDLD는 두 종류의 엔티티를 다룹니다. 첫째는 배양 사례, 둘째는 항생제입니다. 각각을 128차원 벡터로 표현하고 두 벡터를 Predictor에 함께 넣습니다. 여기서 latent는 숨겨진 임상 진단명이 아니라 관측된 반응 관계로부터 추정한 수치 표현입니다.
출처: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Finder의 두 네트워크는 한쪽 표현을 고정하고 다른 쪽을 갱신한 후 값을 전달합니다. 이 과정을 반복한 다음 발견된 표현을 고정하고 별도 Predictor를 학습합니다. 이번 채택 설정은 Finder 22순환, Predictor 55epoch입니다. 세부 수치는 부록 슬라이드에 있습니다.
출처: §3.4,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support와 query의 사례 latent를 각 사례의 기존약 네 개로 추정합니다. 그다음 사례 latent를 고정하고 support의 목표약 정답을 이용해 목표약 latent 하나만 갱신합니다. 마지막에 query 사례 latent와 이 목표약 latent를 고정 Predictor에 함께 넣습니다. support 크기는 목표약 정답을 제공하는 사례 수입니다.
출처: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MIMIC의 환자를 사전학습, 개발, support pool, 최종 query로 나눴습니다. eICU에서는 기존약 네 결과로 새 사례 표현을 추정하지만 목표약 정답으로 다시 학습하지 않습니다. 평가 조합은 28개이며, 각 조합은 균종과 목표약의 쌍입니다. 28은 환자 수가 아닙니다. eICU의 AUROC와 특이도는 정의 가능한 26조합에서 계산합니다.
출처: §3.1–3.2, Table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MF는 행렬분해 모델로 두 벡터의 내적과 편향을 사용합니다. CDLD와 MF는 기존약 반응자료를 사전학습합니다. 로지스틱, 랜덤포레스트, XGBoost는 목표약 support에서 직접 학습합니다. 입력 관측 조건은 같지만 학습 이력은 다릅니다. 따라서 채택한 전체 방법을 비교하는 실험입니다.
출처: §3.3,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AUROC는 특정 임계값 하나의 정답률이 아닙니다. 실제 감수성 사례가 실제 비감수성 사례보다 높은 점수를 받는지를 봅니다. 반면 정확도, 민감도, 특이도, F1은 0.5에서 판정한 결과입니다. 감수성이 양성이므로 특이도가 비감수성 재현율에 해당합니다. 이후 두 종류 지표가 서로 다른 방향으로 움직이는 것이 핵심입니다.
출처: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방법의 성능을 먼저 비교합니다. 표준 분류기는 동일한 네 기존약 AST와 관측 마스크를 사용하며 목표약 support만으로 학습합니다. 이후 관측 수에 따른 변화를 살펴봅니다.
출처: Table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방법의 성능을 먼저 비교합니다. 표준 분류기는 동일한 네 기존약 AST와 관측 마스크를 사용하며 목표약 support만으로 학습합니다. 이후 관측 수에 따른 변화를 살펴봅니다.
출처: Table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선은 저장 결과의 평균 AUROC를 연결한 것입니다. 표시한 세 방법을 중심으로 읽되 표준 분류기 결과는 앞의 전체 성능표에 제시했습니다. 10개: CDLD &gt; MF 20개부터: MF &gt; CDLD  관측 증가의 이득이 다름 이 수치는 점추정치이며 환자 단위 신뢰구간은 산출하지 않았습니다.
출처: Table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선은 저장 결과의 평균 AUROC를 연결한 것입니다. 표시한 세 방법을 중심으로 읽되 표준 분류기 결과는 앞의 전체 성능표에 제시했습니다. 10–50개 모두 CDLD &gt; MF  MIMIC과 다른 상대 성능 이 수치는 점추정치이며 환자 단위 신뢰구간은 산출하지 않았습니다.
출처: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0에서 모델 전체가 무작위인 것은 아닙니다. 사전학습된 네트워크와 기존약 네 개에서 추정한 사례 latent가 예측에 사용됩니다. 같은 조건에서 목표약 latent 갱신만 제거한 기준이므로 support 적응의 추가 효과를 볼 수 있습니다. AST 평균과 비교하는 질문과 구별합니다.
출처: §3.6,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적응 후 전체 정확도는 약 6퍼센트포인트 올랐습니다. 동시에 비감수성을 찾아내는 특이도는 낮아졌습니다. 이는 감수성 사례를 더 많이 맞히는 개선과 반대 클래스의 검출 저하가 함께 발생했다는 뜻입니다. 모든 오류를 한 지표로 요약하면 이 변화가 가려집니다.
출처: Table S5,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목표약 latent는 support BCE를 최소화하도록 학습됩니다. query에서도 BCE는 감소했습니다. 그러나 점수의 확률 손실과 두 클래스 사이의 순위, 0.5 기준 분류는 다른 것을 측정합니다. 이 결과에서 확률 손실의 개선과 판별력의 변화는 구분해서 읽어야 합니다.
출처: Table S3,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모델의 support 0과 50을 비교한 변화량입니다. CDLD는 감수성 검출을 늘리면서 비감수성 검출이 낮아졌고 MF는 반대 양상을 보였습니다. MF의 support 0 민감도가 매우 높은 것은 특이도가 매우 낮은 분류 패턴과 함께 읽어야 합니다. 두 방법 모두 정확도는 개선됐지만 그 개선의 내용은 달랐습니다.
출처: Table 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검사 절감이나 처방 개선을 측정한 연구는 아닙니다. 임상 적용을 위해서는 어떤 검사 결과가 어느 시점에 확보되는지에 맞춘 전향적 평가가 필요합니다. 외부 자료는 작고 일부 조합의 비감수성 사례가 극히 적습니다. 신뢰구간이 없는 평균 차이는 관측된 순서로 읽습니다.
출처: §5.4, Appendix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CDLD는 사전학습 모델을 유지하면서 목표약의 표현을 소수 관측으로 추정해 예측에 적용했습니다. MIMIC 작은 support에서는 CDLD가 MF보다 높은 AUROC를 보였고 관측 수가 늘면 순서가 바뀌었습니다. eICU에서는 CDLD가 MF보다 높은 AUROC를 유지했습니다. 비교표의 AST 평균도 강한 판별력을 보였으므로 전체 성능은 지표별로 읽어야 합니다. 목표약 적응으로 확률 손실과 여러 분류 지표가 개선됐지만 AUROC와 특이도는 그렇지 않았습니다. 따라서 적응 효과는 판별력과 감수성·비감수성 검출을 나눠 평가하는 것이 이 연구의 핵심 결론입니다.
출처: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Finder 각 구성 네트워크는 순환당 30epoch, LR 0.00003, L2 0.0001입니다. Predictor LR 0.0005, batch 1024, BN momentum 0.9입니다. 신규 사례 latent는 LR 0.0005로 300step 적응합니다. 목표약은 support10/20에서 200step, 30/40/50에서 400step입니다. seed는 965136,110623,615357입니다. 자료 이용에는 각 데이터셋 자격 및 이용계약이 적용됩니다.
출처: Appendix A·E, Data availability, Code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3B3B"/>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9EC9C7"/>
                </a:solidFill>
                <a:latin typeface="Arial Unicode MS" pitchFamily="34" charset="0"/>
                <a:ea typeface="Arial Unicode MS" pitchFamily="34" charset="-122"/>
                <a:cs typeface="Arial Unicode MS" pitchFamily="34" charset="-120"/>
              </a:rPr>
              <a:t>RESEARCH PRESENTATION</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FFFFFF"/>
                </a:solidFill>
                <a:latin typeface="Arial Unicode MS" pitchFamily="34" charset="0"/>
                <a:ea typeface="Arial Unicode MS" pitchFamily="34" charset="-122"/>
                <a:cs typeface="Arial Unicode MS" pitchFamily="34" charset="-120"/>
              </a:rPr>
              <a:t>기존 항생제 검사 결과로</a:t>
            </a:r>
            <a:endParaRPr lang="en-US" sz="3000" dirty="0"/>
          </a:p>
          <a:p>
            <a:pPr indent="0" marL="0">
              <a:buNone/>
            </a:pPr>
            <a:r>
              <a:rPr lang="en-US" sz="3000" b="1" dirty="0">
                <a:solidFill>
                  <a:srgbClr val="FFFFFF"/>
                </a:solidFill>
                <a:latin typeface="Arial Unicode MS" pitchFamily="34" charset="0"/>
                <a:ea typeface="Arial Unicode MS" pitchFamily="34" charset="-122"/>
                <a:cs typeface="Arial Unicode MS" pitchFamily="34" charset="-120"/>
              </a:rPr>
              <a:t>다른 항생제의 감수성 예측하기</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9EC9C7"/>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9EC9C7"/>
                </a:solidFill>
                <a:latin typeface="Arial Unicode MS" pitchFamily="34" charset="0"/>
                <a:ea typeface="Arial Unicode MS" pitchFamily="34" charset="-122"/>
                <a:cs typeface="Arial Unicode MS" pitchFamily="34" charset="-120"/>
              </a:rPr>
              <a:t>01</a:t>
            </a:r>
            <a:endParaRPr lang="en-US" sz="1100" dirty="0"/>
          </a:p>
        </p:txBody>
      </p:sp>
      <p:sp>
        <p:nvSpPr>
          <p:cNvPr id="6" name="Text 4"/>
          <p:cNvSpPr/>
          <p:nvPr/>
        </p:nvSpPr>
        <p:spPr>
          <a:xfrm>
            <a:off x="594360" y="2788920"/>
            <a:ext cx="6217920" cy="1188720"/>
          </a:xfrm>
          <a:prstGeom prst="rect">
            <a:avLst/>
          </a:prstGeom>
          <a:noFill/>
          <a:ln/>
        </p:spPr>
        <p:txBody>
          <a:bodyPr wrap="square" lIns="0" tIns="0" rIns="0" bIns="0" rtlCol="0" anchor="ctr"/>
          <a:lstStyle/>
          <a:p>
            <a:pPr indent="0" marL="0">
              <a:buNone/>
            </a:pPr>
            <a:r>
              <a:rPr lang="en-US" sz="2600" dirty="0">
                <a:solidFill>
                  <a:srgbClr val="FFFFFF"/>
                </a:solidFill>
                <a:latin typeface="Arial Unicode MS" pitchFamily="34" charset="0"/>
                <a:ea typeface="Arial Unicode MS" pitchFamily="34" charset="-122"/>
                <a:cs typeface="Arial Unicode MS" pitchFamily="34" charset="-120"/>
              </a:rPr>
              <a:t>CDLD의 소수 관측 적응과</a:t>
            </a:r>
            <a:endParaRPr lang="en-US" sz="2600" dirty="0"/>
          </a:p>
          <a:p>
            <a:pPr indent="0" marL="0">
              <a:buNone/>
            </a:pPr>
            <a:r>
              <a:rPr lang="en-US" sz="2600" dirty="0">
                <a:solidFill>
                  <a:srgbClr val="FFFFFF"/>
                </a:solidFill>
                <a:latin typeface="Arial Unicode MS" pitchFamily="34" charset="0"/>
                <a:ea typeface="Arial Unicode MS" pitchFamily="34" charset="-122"/>
                <a:cs typeface="Arial Unicode MS" pitchFamily="34" charset="-120"/>
              </a:rPr>
              <a:t>MIMIC·eICU 평가</a:t>
            </a:r>
            <a:endParaRPr lang="en-US" sz="2600" dirty="0"/>
          </a:p>
        </p:txBody>
      </p:sp>
      <p:sp>
        <p:nvSpPr>
          <p:cNvPr id="7" name="Text 5"/>
          <p:cNvSpPr/>
          <p:nvPr/>
        </p:nvSpPr>
        <p:spPr>
          <a:xfrm>
            <a:off x="594360" y="4937760"/>
            <a:ext cx="6400800" cy="457200"/>
          </a:xfrm>
          <a:prstGeom prst="rect">
            <a:avLst/>
          </a:prstGeom>
          <a:noFill/>
          <a:ln/>
        </p:spPr>
        <p:txBody>
          <a:bodyPr wrap="square" lIns="0" tIns="0" rIns="0" bIns="0" rtlCol="0" anchor="ctr"/>
          <a:lstStyle/>
          <a:p>
            <a:pPr indent="0" marL="0">
              <a:buNone/>
            </a:pPr>
            <a:r>
              <a:rPr lang="en-US" sz="1800" dirty="0">
                <a:solidFill>
                  <a:srgbClr val="B7D5D3"/>
                </a:solidFill>
                <a:latin typeface="Arial Unicode MS" pitchFamily="34" charset="0"/>
                <a:ea typeface="Arial Unicode MS" pitchFamily="34" charset="-122"/>
                <a:cs typeface="Arial Unicode MS" pitchFamily="34" charset="-120"/>
              </a:rPr>
              <a:t>기존약 검사 4개 + 목표약 관측 10–50개</a:t>
            </a:r>
            <a:endParaRPr lang="en-US" sz="1800" dirty="0"/>
          </a:p>
        </p:txBody>
      </p:sp>
      <p:sp>
        <p:nvSpPr>
          <p:cNvPr id="8" name="Text 6"/>
          <p:cNvSpPr/>
          <p:nvPr/>
        </p:nvSpPr>
        <p:spPr>
          <a:xfrm>
            <a:off x="594360" y="5669280"/>
            <a:ext cx="6400800" cy="320040"/>
          </a:xfrm>
          <a:prstGeom prst="rect">
            <a:avLst/>
          </a:prstGeom>
          <a:noFill/>
          <a:ln/>
        </p:spPr>
        <p:txBody>
          <a:bodyPr wrap="square" lIns="0" tIns="0" rIns="0" bIns="0" rtlCol="0" anchor="ctr"/>
          <a:lstStyle/>
          <a:p>
            <a:pPr indent="0" marL="0">
              <a:buNone/>
            </a:pPr>
            <a:r>
              <a:rPr lang="en-US" sz="1500" dirty="0">
                <a:solidFill>
                  <a:srgbClr val="B7D5D3"/>
                </a:solidFill>
                <a:latin typeface="Arial Unicode MS" pitchFamily="34" charset="0"/>
                <a:ea typeface="Arial Unicode MS" pitchFamily="34" charset="-122"/>
                <a:cs typeface="Arial Unicode MS" pitchFamily="34" charset="-120"/>
              </a:rPr>
              <a:t>Dohyoung Rim  |  Independent Researcher</a:t>
            </a:r>
            <a:endParaRPr lang="en-US" sz="1500" dirty="0"/>
          </a:p>
        </p:txBody>
      </p:sp>
      <p:sp>
        <p:nvSpPr>
          <p:cNvPr id="9" name="Shape 7"/>
          <p:cNvSpPr/>
          <p:nvPr/>
        </p:nvSpPr>
        <p:spPr>
          <a:xfrm>
            <a:off x="7498080" y="2084832"/>
            <a:ext cx="484632" cy="393192"/>
          </a:xfrm>
          <a:prstGeom prst="rect">
            <a:avLst/>
          </a:prstGeom>
          <a:solidFill>
            <a:srgbClr val="D4E5E2"/>
          </a:solidFill>
          <a:ln w="7620">
            <a:solidFill>
              <a:srgbClr val="D4E5E2"/>
            </a:solidFill>
            <a:prstDash val="solid"/>
          </a:ln>
        </p:spPr>
      </p:sp>
      <p:sp>
        <p:nvSpPr>
          <p:cNvPr id="10" name="Text 8"/>
          <p:cNvSpPr/>
          <p:nvPr/>
        </p:nvSpPr>
        <p:spPr>
          <a:xfrm>
            <a:off x="7498080" y="2084832"/>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I/R</a:t>
            </a:r>
            <a:endParaRPr lang="en-US" sz="1300" dirty="0"/>
          </a:p>
        </p:txBody>
      </p:sp>
      <p:sp>
        <p:nvSpPr>
          <p:cNvPr id="11" name="Shape 9"/>
          <p:cNvSpPr/>
          <p:nvPr/>
        </p:nvSpPr>
        <p:spPr>
          <a:xfrm>
            <a:off x="8119872" y="2084832"/>
            <a:ext cx="484632" cy="393192"/>
          </a:xfrm>
          <a:prstGeom prst="rect">
            <a:avLst/>
          </a:prstGeom>
          <a:solidFill>
            <a:srgbClr val="83B6AE"/>
          </a:solidFill>
          <a:ln w="7620">
            <a:solidFill>
              <a:srgbClr val="83B6AE"/>
            </a:solidFill>
            <a:prstDash val="solid"/>
          </a:ln>
        </p:spPr>
      </p:sp>
      <p:sp>
        <p:nvSpPr>
          <p:cNvPr id="12" name="Text 10"/>
          <p:cNvSpPr/>
          <p:nvPr/>
        </p:nvSpPr>
        <p:spPr>
          <a:xfrm>
            <a:off x="8119872" y="2084832"/>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13" name="Shape 11"/>
          <p:cNvSpPr/>
          <p:nvPr/>
        </p:nvSpPr>
        <p:spPr>
          <a:xfrm>
            <a:off x="8741664" y="2084832"/>
            <a:ext cx="484632" cy="393192"/>
          </a:xfrm>
          <a:prstGeom prst="rect">
            <a:avLst/>
          </a:prstGeom>
          <a:solidFill>
            <a:srgbClr val="83B6AE"/>
          </a:solidFill>
          <a:ln w="7620">
            <a:solidFill>
              <a:srgbClr val="83B6AE"/>
            </a:solidFill>
            <a:prstDash val="solid"/>
          </a:ln>
        </p:spPr>
      </p:sp>
      <p:sp>
        <p:nvSpPr>
          <p:cNvPr id="14" name="Text 12"/>
          <p:cNvSpPr/>
          <p:nvPr/>
        </p:nvSpPr>
        <p:spPr>
          <a:xfrm>
            <a:off x="8741664" y="2084832"/>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15" name="Shape 13"/>
          <p:cNvSpPr/>
          <p:nvPr/>
        </p:nvSpPr>
        <p:spPr>
          <a:xfrm>
            <a:off x="9363456" y="2084832"/>
            <a:ext cx="484632" cy="393192"/>
          </a:xfrm>
          <a:prstGeom prst="rect">
            <a:avLst/>
          </a:prstGeom>
          <a:solidFill>
            <a:srgbClr val="D4E5E2"/>
          </a:solidFill>
          <a:ln w="7620">
            <a:solidFill>
              <a:srgbClr val="D4E5E2"/>
            </a:solidFill>
            <a:prstDash val="solid"/>
          </a:ln>
        </p:spPr>
      </p:sp>
      <p:sp>
        <p:nvSpPr>
          <p:cNvPr id="16" name="Text 14"/>
          <p:cNvSpPr/>
          <p:nvPr/>
        </p:nvSpPr>
        <p:spPr>
          <a:xfrm>
            <a:off x="9363456" y="2084832"/>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I/R</a:t>
            </a:r>
            <a:endParaRPr lang="en-US" sz="1300" dirty="0"/>
          </a:p>
        </p:txBody>
      </p:sp>
      <p:sp>
        <p:nvSpPr>
          <p:cNvPr id="17" name="Shape 15"/>
          <p:cNvSpPr/>
          <p:nvPr/>
        </p:nvSpPr>
        <p:spPr>
          <a:xfrm>
            <a:off x="9985248" y="2084832"/>
            <a:ext cx="484632" cy="393192"/>
          </a:xfrm>
          <a:prstGeom prst="rect">
            <a:avLst/>
          </a:prstGeom>
          <a:solidFill>
            <a:srgbClr val="517573"/>
          </a:solidFill>
          <a:ln w="7620">
            <a:solidFill>
              <a:srgbClr val="517573"/>
            </a:solidFill>
            <a:prstDash val="solid"/>
          </a:ln>
        </p:spPr>
      </p:sp>
      <p:sp>
        <p:nvSpPr>
          <p:cNvPr id="18" name="Text 16"/>
          <p:cNvSpPr/>
          <p:nvPr/>
        </p:nvSpPr>
        <p:spPr>
          <a:xfrm>
            <a:off x="9985248" y="2084832"/>
            <a:ext cx="48463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Unicode MS" pitchFamily="34" charset="0"/>
                <a:ea typeface="Arial Unicode MS" pitchFamily="34" charset="-122"/>
                <a:cs typeface="Arial Unicode MS" pitchFamily="34" charset="-120"/>
              </a:rPr>
              <a:t>?</a:t>
            </a:r>
            <a:endParaRPr lang="en-US" sz="1300" dirty="0"/>
          </a:p>
        </p:txBody>
      </p:sp>
      <p:sp>
        <p:nvSpPr>
          <p:cNvPr id="19" name="Shape 17"/>
          <p:cNvSpPr/>
          <p:nvPr/>
        </p:nvSpPr>
        <p:spPr>
          <a:xfrm>
            <a:off x="7498080" y="2606040"/>
            <a:ext cx="484632" cy="393192"/>
          </a:xfrm>
          <a:prstGeom prst="rect">
            <a:avLst/>
          </a:prstGeom>
          <a:solidFill>
            <a:srgbClr val="83B6AE"/>
          </a:solidFill>
          <a:ln w="7620">
            <a:solidFill>
              <a:srgbClr val="83B6AE"/>
            </a:solidFill>
            <a:prstDash val="solid"/>
          </a:ln>
        </p:spPr>
      </p:sp>
      <p:sp>
        <p:nvSpPr>
          <p:cNvPr id="20" name="Text 18"/>
          <p:cNvSpPr/>
          <p:nvPr/>
        </p:nvSpPr>
        <p:spPr>
          <a:xfrm>
            <a:off x="7498080" y="2606040"/>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21" name="Shape 19"/>
          <p:cNvSpPr/>
          <p:nvPr/>
        </p:nvSpPr>
        <p:spPr>
          <a:xfrm>
            <a:off x="8119872" y="2606040"/>
            <a:ext cx="484632" cy="393192"/>
          </a:xfrm>
          <a:prstGeom prst="rect">
            <a:avLst/>
          </a:prstGeom>
          <a:solidFill>
            <a:srgbClr val="83B6AE"/>
          </a:solidFill>
          <a:ln w="7620">
            <a:solidFill>
              <a:srgbClr val="83B6AE"/>
            </a:solidFill>
            <a:prstDash val="solid"/>
          </a:ln>
        </p:spPr>
      </p:sp>
      <p:sp>
        <p:nvSpPr>
          <p:cNvPr id="22" name="Text 20"/>
          <p:cNvSpPr/>
          <p:nvPr/>
        </p:nvSpPr>
        <p:spPr>
          <a:xfrm>
            <a:off x="8119872" y="2606040"/>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23" name="Shape 21"/>
          <p:cNvSpPr/>
          <p:nvPr/>
        </p:nvSpPr>
        <p:spPr>
          <a:xfrm>
            <a:off x="8741664" y="2606040"/>
            <a:ext cx="484632" cy="393192"/>
          </a:xfrm>
          <a:prstGeom prst="rect">
            <a:avLst/>
          </a:prstGeom>
          <a:solidFill>
            <a:srgbClr val="D4E5E2"/>
          </a:solidFill>
          <a:ln w="7620">
            <a:solidFill>
              <a:srgbClr val="D4E5E2"/>
            </a:solidFill>
            <a:prstDash val="solid"/>
          </a:ln>
        </p:spPr>
      </p:sp>
      <p:sp>
        <p:nvSpPr>
          <p:cNvPr id="24" name="Text 22"/>
          <p:cNvSpPr/>
          <p:nvPr/>
        </p:nvSpPr>
        <p:spPr>
          <a:xfrm>
            <a:off x="8741664" y="2606040"/>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I/R</a:t>
            </a:r>
            <a:endParaRPr lang="en-US" sz="1300" dirty="0"/>
          </a:p>
        </p:txBody>
      </p:sp>
      <p:sp>
        <p:nvSpPr>
          <p:cNvPr id="25" name="Shape 23"/>
          <p:cNvSpPr/>
          <p:nvPr/>
        </p:nvSpPr>
        <p:spPr>
          <a:xfrm>
            <a:off x="9363456" y="2606040"/>
            <a:ext cx="484632" cy="393192"/>
          </a:xfrm>
          <a:prstGeom prst="rect">
            <a:avLst/>
          </a:prstGeom>
          <a:solidFill>
            <a:srgbClr val="83B6AE"/>
          </a:solidFill>
          <a:ln w="7620">
            <a:solidFill>
              <a:srgbClr val="83B6AE"/>
            </a:solidFill>
            <a:prstDash val="solid"/>
          </a:ln>
        </p:spPr>
      </p:sp>
      <p:sp>
        <p:nvSpPr>
          <p:cNvPr id="26" name="Text 24"/>
          <p:cNvSpPr/>
          <p:nvPr/>
        </p:nvSpPr>
        <p:spPr>
          <a:xfrm>
            <a:off x="9363456" y="2606040"/>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27" name="Shape 25"/>
          <p:cNvSpPr/>
          <p:nvPr/>
        </p:nvSpPr>
        <p:spPr>
          <a:xfrm>
            <a:off x="9985248" y="2606040"/>
            <a:ext cx="484632" cy="393192"/>
          </a:xfrm>
          <a:prstGeom prst="rect">
            <a:avLst/>
          </a:prstGeom>
          <a:solidFill>
            <a:srgbClr val="517573"/>
          </a:solidFill>
          <a:ln w="7620">
            <a:solidFill>
              <a:srgbClr val="517573"/>
            </a:solidFill>
            <a:prstDash val="solid"/>
          </a:ln>
        </p:spPr>
      </p:sp>
      <p:sp>
        <p:nvSpPr>
          <p:cNvPr id="28" name="Text 26"/>
          <p:cNvSpPr/>
          <p:nvPr/>
        </p:nvSpPr>
        <p:spPr>
          <a:xfrm>
            <a:off x="9985248" y="2606040"/>
            <a:ext cx="48463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Unicode MS" pitchFamily="34" charset="0"/>
                <a:ea typeface="Arial Unicode MS" pitchFamily="34" charset="-122"/>
                <a:cs typeface="Arial Unicode MS" pitchFamily="34" charset="-120"/>
              </a:rPr>
              <a:t>?</a:t>
            </a:r>
            <a:endParaRPr lang="en-US" sz="1300" dirty="0"/>
          </a:p>
        </p:txBody>
      </p:sp>
      <p:sp>
        <p:nvSpPr>
          <p:cNvPr id="29" name="Shape 27"/>
          <p:cNvSpPr/>
          <p:nvPr/>
        </p:nvSpPr>
        <p:spPr>
          <a:xfrm>
            <a:off x="7498080" y="3127248"/>
            <a:ext cx="484632" cy="393192"/>
          </a:xfrm>
          <a:prstGeom prst="rect">
            <a:avLst/>
          </a:prstGeom>
          <a:solidFill>
            <a:srgbClr val="83B6AE"/>
          </a:solidFill>
          <a:ln w="7620">
            <a:solidFill>
              <a:srgbClr val="83B6AE"/>
            </a:solidFill>
            <a:prstDash val="solid"/>
          </a:ln>
        </p:spPr>
      </p:sp>
      <p:sp>
        <p:nvSpPr>
          <p:cNvPr id="30" name="Text 28"/>
          <p:cNvSpPr/>
          <p:nvPr/>
        </p:nvSpPr>
        <p:spPr>
          <a:xfrm>
            <a:off x="7498080" y="3127248"/>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31" name="Shape 29"/>
          <p:cNvSpPr/>
          <p:nvPr/>
        </p:nvSpPr>
        <p:spPr>
          <a:xfrm>
            <a:off x="8119872" y="3127248"/>
            <a:ext cx="484632" cy="393192"/>
          </a:xfrm>
          <a:prstGeom prst="rect">
            <a:avLst/>
          </a:prstGeom>
          <a:solidFill>
            <a:srgbClr val="D4E5E2"/>
          </a:solidFill>
          <a:ln w="7620">
            <a:solidFill>
              <a:srgbClr val="D4E5E2"/>
            </a:solidFill>
            <a:prstDash val="solid"/>
          </a:ln>
        </p:spPr>
      </p:sp>
      <p:sp>
        <p:nvSpPr>
          <p:cNvPr id="32" name="Text 30"/>
          <p:cNvSpPr/>
          <p:nvPr/>
        </p:nvSpPr>
        <p:spPr>
          <a:xfrm>
            <a:off x="8119872" y="3127248"/>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I/R</a:t>
            </a:r>
            <a:endParaRPr lang="en-US" sz="1300" dirty="0"/>
          </a:p>
        </p:txBody>
      </p:sp>
      <p:sp>
        <p:nvSpPr>
          <p:cNvPr id="33" name="Shape 31"/>
          <p:cNvSpPr/>
          <p:nvPr/>
        </p:nvSpPr>
        <p:spPr>
          <a:xfrm>
            <a:off x="8741664" y="3127248"/>
            <a:ext cx="484632" cy="393192"/>
          </a:xfrm>
          <a:prstGeom prst="rect">
            <a:avLst/>
          </a:prstGeom>
          <a:solidFill>
            <a:srgbClr val="83B6AE"/>
          </a:solidFill>
          <a:ln w="7620">
            <a:solidFill>
              <a:srgbClr val="83B6AE"/>
            </a:solidFill>
            <a:prstDash val="solid"/>
          </a:ln>
        </p:spPr>
      </p:sp>
      <p:sp>
        <p:nvSpPr>
          <p:cNvPr id="34" name="Text 32"/>
          <p:cNvSpPr/>
          <p:nvPr/>
        </p:nvSpPr>
        <p:spPr>
          <a:xfrm>
            <a:off x="8741664" y="3127248"/>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35" name="Shape 33"/>
          <p:cNvSpPr/>
          <p:nvPr/>
        </p:nvSpPr>
        <p:spPr>
          <a:xfrm>
            <a:off x="9363456" y="3127248"/>
            <a:ext cx="484632" cy="393192"/>
          </a:xfrm>
          <a:prstGeom prst="rect">
            <a:avLst/>
          </a:prstGeom>
          <a:solidFill>
            <a:srgbClr val="83B6AE"/>
          </a:solidFill>
          <a:ln w="7620">
            <a:solidFill>
              <a:srgbClr val="83B6AE"/>
            </a:solidFill>
            <a:prstDash val="solid"/>
          </a:ln>
        </p:spPr>
      </p:sp>
      <p:sp>
        <p:nvSpPr>
          <p:cNvPr id="36" name="Text 34"/>
          <p:cNvSpPr/>
          <p:nvPr/>
        </p:nvSpPr>
        <p:spPr>
          <a:xfrm>
            <a:off x="9363456" y="3127248"/>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37" name="Shape 35"/>
          <p:cNvSpPr/>
          <p:nvPr/>
        </p:nvSpPr>
        <p:spPr>
          <a:xfrm>
            <a:off x="9985248" y="3127248"/>
            <a:ext cx="484632" cy="393192"/>
          </a:xfrm>
          <a:prstGeom prst="rect">
            <a:avLst/>
          </a:prstGeom>
          <a:solidFill>
            <a:srgbClr val="517573"/>
          </a:solidFill>
          <a:ln w="7620">
            <a:solidFill>
              <a:srgbClr val="517573"/>
            </a:solidFill>
            <a:prstDash val="solid"/>
          </a:ln>
        </p:spPr>
      </p:sp>
      <p:sp>
        <p:nvSpPr>
          <p:cNvPr id="38" name="Text 36"/>
          <p:cNvSpPr/>
          <p:nvPr/>
        </p:nvSpPr>
        <p:spPr>
          <a:xfrm>
            <a:off x="9985248" y="3127248"/>
            <a:ext cx="48463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Unicode MS" pitchFamily="34" charset="0"/>
                <a:ea typeface="Arial Unicode MS" pitchFamily="34" charset="-122"/>
                <a:cs typeface="Arial Unicode MS" pitchFamily="34" charset="-120"/>
              </a:rPr>
              <a:t>?</a:t>
            </a:r>
            <a:endParaRPr lang="en-US" sz="1300" dirty="0"/>
          </a:p>
        </p:txBody>
      </p:sp>
      <p:sp>
        <p:nvSpPr>
          <p:cNvPr id="39" name="Shape 37"/>
          <p:cNvSpPr/>
          <p:nvPr/>
        </p:nvSpPr>
        <p:spPr>
          <a:xfrm>
            <a:off x="7498080" y="3648456"/>
            <a:ext cx="484632" cy="393192"/>
          </a:xfrm>
          <a:prstGeom prst="rect">
            <a:avLst/>
          </a:prstGeom>
          <a:solidFill>
            <a:srgbClr val="D4E5E2"/>
          </a:solidFill>
          <a:ln w="7620">
            <a:solidFill>
              <a:srgbClr val="D4E5E2"/>
            </a:solidFill>
            <a:prstDash val="solid"/>
          </a:ln>
        </p:spPr>
      </p:sp>
      <p:sp>
        <p:nvSpPr>
          <p:cNvPr id="40" name="Text 38"/>
          <p:cNvSpPr/>
          <p:nvPr/>
        </p:nvSpPr>
        <p:spPr>
          <a:xfrm>
            <a:off x="7498080" y="3648456"/>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I/R</a:t>
            </a:r>
            <a:endParaRPr lang="en-US" sz="1300" dirty="0"/>
          </a:p>
        </p:txBody>
      </p:sp>
      <p:sp>
        <p:nvSpPr>
          <p:cNvPr id="41" name="Shape 39"/>
          <p:cNvSpPr/>
          <p:nvPr/>
        </p:nvSpPr>
        <p:spPr>
          <a:xfrm>
            <a:off x="8119872" y="3648456"/>
            <a:ext cx="484632" cy="393192"/>
          </a:xfrm>
          <a:prstGeom prst="rect">
            <a:avLst/>
          </a:prstGeom>
          <a:solidFill>
            <a:srgbClr val="83B6AE"/>
          </a:solidFill>
          <a:ln w="7620">
            <a:solidFill>
              <a:srgbClr val="83B6AE"/>
            </a:solidFill>
            <a:prstDash val="solid"/>
          </a:ln>
        </p:spPr>
      </p:sp>
      <p:sp>
        <p:nvSpPr>
          <p:cNvPr id="42" name="Text 40"/>
          <p:cNvSpPr/>
          <p:nvPr/>
        </p:nvSpPr>
        <p:spPr>
          <a:xfrm>
            <a:off x="8119872" y="3648456"/>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43" name="Shape 41"/>
          <p:cNvSpPr/>
          <p:nvPr/>
        </p:nvSpPr>
        <p:spPr>
          <a:xfrm>
            <a:off x="8741664" y="3648456"/>
            <a:ext cx="484632" cy="393192"/>
          </a:xfrm>
          <a:prstGeom prst="rect">
            <a:avLst/>
          </a:prstGeom>
          <a:solidFill>
            <a:srgbClr val="83B6AE"/>
          </a:solidFill>
          <a:ln w="7620">
            <a:solidFill>
              <a:srgbClr val="83B6AE"/>
            </a:solidFill>
            <a:prstDash val="solid"/>
          </a:ln>
        </p:spPr>
      </p:sp>
      <p:sp>
        <p:nvSpPr>
          <p:cNvPr id="44" name="Text 42"/>
          <p:cNvSpPr/>
          <p:nvPr/>
        </p:nvSpPr>
        <p:spPr>
          <a:xfrm>
            <a:off x="8741664" y="3648456"/>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45" name="Shape 43"/>
          <p:cNvSpPr/>
          <p:nvPr/>
        </p:nvSpPr>
        <p:spPr>
          <a:xfrm>
            <a:off x="9363456" y="3648456"/>
            <a:ext cx="484632" cy="393192"/>
          </a:xfrm>
          <a:prstGeom prst="rect">
            <a:avLst/>
          </a:prstGeom>
          <a:solidFill>
            <a:srgbClr val="D4E5E2"/>
          </a:solidFill>
          <a:ln w="7620">
            <a:solidFill>
              <a:srgbClr val="D4E5E2"/>
            </a:solidFill>
            <a:prstDash val="solid"/>
          </a:ln>
        </p:spPr>
      </p:sp>
      <p:sp>
        <p:nvSpPr>
          <p:cNvPr id="46" name="Text 44"/>
          <p:cNvSpPr/>
          <p:nvPr/>
        </p:nvSpPr>
        <p:spPr>
          <a:xfrm>
            <a:off x="9363456" y="3648456"/>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I/R</a:t>
            </a:r>
            <a:endParaRPr lang="en-US" sz="1300" dirty="0"/>
          </a:p>
        </p:txBody>
      </p:sp>
      <p:sp>
        <p:nvSpPr>
          <p:cNvPr id="47" name="Shape 45"/>
          <p:cNvSpPr/>
          <p:nvPr/>
        </p:nvSpPr>
        <p:spPr>
          <a:xfrm>
            <a:off x="9985248" y="3648456"/>
            <a:ext cx="484632" cy="393192"/>
          </a:xfrm>
          <a:prstGeom prst="rect">
            <a:avLst/>
          </a:prstGeom>
          <a:solidFill>
            <a:srgbClr val="517573"/>
          </a:solidFill>
          <a:ln w="7620">
            <a:solidFill>
              <a:srgbClr val="517573"/>
            </a:solidFill>
            <a:prstDash val="solid"/>
          </a:ln>
        </p:spPr>
      </p:sp>
      <p:sp>
        <p:nvSpPr>
          <p:cNvPr id="48" name="Text 46"/>
          <p:cNvSpPr/>
          <p:nvPr/>
        </p:nvSpPr>
        <p:spPr>
          <a:xfrm>
            <a:off x="9985248" y="3648456"/>
            <a:ext cx="48463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Unicode MS" pitchFamily="34" charset="0"/>
                <a:ea typeface="Arial Unicode MS" pitchFamily="34" charset="-122"/>
                <a:cs typeface="Arial Unicode MS" pitchFamily="34" charset="-120"/>
              </a:rPr>
              <a:t>?</a:t>
            </a:r>
            <a:endParaRPr lang="en-US" sz="1300" dirty="0"/>
          </a:p>
        </p:txBody>
      </p:sp>
      <p:sp>
        <p:nvSpPr>
          <p:cNvPr id="49" name="Shape 47"/>
          <p:cNvSpPr/>
          <p:nvPr/>
        </p:nvSpPr>
        <p:spPr>
          <a:xfrm>
            <a:off x="7498080" y="4169664"/>
            <a:ext cx="484632" cy="393192"/>
          </a:xfrm>
          <a:prstGeom prst="rect">
            <a:avLst/>
          </a:prstGeom>
          <a:solidFill>
            <a:srgbClr val="83B6AE"/>
          </a:solidFill>
          <a:ln w="7620">
            <a:solidFill>
              <a:srgbClr val="83B6AE"/>
            </a:solidFill>
            <a:prstDash val="solid"/>
          </a:ln>
        </p:spPr>
      </p:sp>
      <p:sp>
        <p:nvSpPr>
          <p:cNvPr id="50" name="Text 48"/>
          <p:cNvSpPr/>
          <p:nvPr/>
        </p:nvSpPr>
        <p:spPr>
          <a:xfrm>
            <a:off x="7498080" y="4169664"/>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51" name="Shape 49"/>
          <p:cNvSpPr/>
          <p:nvPr/>
        </p:nvSpPr>
        <p:spPr>
          <a:xfrm>
            <a:off x="8119872" y="4169664"/>
            <a:ext cx="484632" cy="393192"/>
          </a:xfrm>
          <a:prstGeom prst="rect">
            <a:avLst/>
          </a:prstGeom>
          <a:solidFill>
            <a:srgbClr val="83B6AE"/>
          </a:solidFill>
          <a:ln w="7620">
            <a:solidFill>
              <a:srgbClr val="83B6AE"/>
            </a:solidFill>
            <a:prstDash val="solid"/>
          </a:ln>
        </p:spPr>
      </p:sp>
      <p:sp>
        <p:nvSpPr>
          <p:cNvPr id="52" name="Text 50"/>
          <p:cNvSpPr/>
          <p:nvPr/>
        </p:nvSpPr>
        <p:spPr>
          <a:xfrm>
            <a:off x="8119872" y="4169664"/>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53" name="Shape 51"/>
          <p:cNvSpPr/>
          <p:nvPr/>
        </p:nvSpPr>
        <p:spPr>
          <a:xfrm>
            <a:off x="8741664" y="4169664"/>
            <a:ext cx="484632" cy="393192"/>
          </a:xfrm>
          <a:prstGeom prst="rect">
            <a:avLst/>
          </a:prstGeom>
          <a:solidFill>
            <a:srgbClr val="D4E5E2"/>
          </a:solidFill>
          <a:ln w="7620">
            <a:solidFill>
              <a:srgbClr val="D4E5E2"/>
            </a:solidFill>
            <a:prstDash val="solid"/>
          </a:ln>
        </p:spPr>
      </p:sp>
      <p:sp>
        <p:nvSpPr>
          <p:cNvPr id="54" name="Text 52"/>
          <p:cNvSpPr/>
          <p:nvPr/>
        </p:nvSpPr>
        <p:spPr>
          <a:xfrm>
            <a:off x="8741664" y="4169664"/>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I/R</a:t>
            </a:r>
            <a:endParaRPr lang="en-US" sz="1300" dirty="0"/>
          </a:p>
        </p:txBody>
      </p:sp>
      <p:sp>
        <p:nvSpPr>
          <p:cNvPr id="55" name="Shape 53"/>
          <p:cNvSpPr/>
          <p:nvPr/>
        </p:nvSpPr>
        <p:spPr>
          <a:xfrm>
            <a:off x="9363456" y="4169664"/>
            <a:ext cx="484632" cy="393192"/>
          </a:xfrm>
          <a:prstGeom prst="rect">
            <a:avLst/>
          </a:prstGeom>
          <a:solidFill>
            <a:srgbClr val="83B6AE"/>
          </a:solidFill>
          <a:ln w="7620">
            <a:solidFill>
              <a:srgbClr val="83B6AE"/>
            </a:solidFill>
            <a:prstDash val="solid"/>
          </a:ln>
        </p:spPr>
      </p:sp>
      <p:sp>
        <p:nvSpPr>
          <p:cNvPr id="56" name="Text 54"/>
          <p:cNvSpPr/>
          <p:nvPr/>
        </p:nvSpPr>
        <p:spPr>
          <a:xfrm>
            <a:off x="9363456" y="4169664"/>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57" name="Shape 55"/>
          <p:cNvSpPr/>
          <p:nvPr/>
        </p:nvSpPr>
        <p:spPr>
          <a:xfrm>
            <a:off x="9985248" y="4169664"/>
            <a:ext cx="484632" cy="393192"/>
          </a:xfrm>
          <a:prstGeom prst="rect">
            <a:avLst/>
          </a:prstGeom>
          <a:solidFill>
            <a:srgbClr val="517573"/>
          </a:solidFill>
          <a:ln w="7620">
            <a:solidFill>
              <a:srgbClr val="517573"/>
            </a:solidFill>
            <a:prstDash val="solid"/>
          </a:ln>
        </p:spPr>
      </p:sp>
      <p:sp>
        <p:nvSpPr>
          <p:cNvPr id="58" name="Text 56"/>
          <p:cNvSpPr/>
          <p:nvPr/>
        </p:nvSpPr>
        <p:spPr>
          <a:xfrm>
            <a:off x="9985248" y="4169664"/>
            <a:ext cx="48463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Unicode MS" pitchFamily="34" charset="0"/>
                <a:ea typeface="Arial Unicode MS" pitchFamily="34" charset="-122"/>
                <a:cs typeface="Arial Unicode MS" pitchFamily="34" charset="-120"/>
              </a:rPr>
              <a:t>?</a:t>
            </a:r>
            <a:endParaRPr lang="en-US" sz="1300" dirty="0"/>
          </a:p>
        </p:txBody>
      </p:sp>
      <p:sp>
        <p:nvSpPr>
          <p:cNvPr id="59" name="Shape 57"/>
          <p:cNvSpPr/>
          <p:nvPr/>
        </p:nvSpPr>
        <p:spPr>
          <a:xfrm>
            <a:off x="7498080" y="4690872"/>
            <a:ext cx="484632" cy="393192"/>
          </a:xfrm>
          <a:prstGeom prst="rect">
            <a:avLst/>
          </a:prstGeom>
          <a:solidFill>
            <a:srgbClr val="83B6AE"/>
          </a:solidFill>
          <a:ln w="7620">
            <a:solidFill>
              <a:srgbClr val="83B6AE"/>
            </a:solidFill>
            <a:prstDash val="solid"/>
          </a:ln>
        </p:spPr>
      </p:sp>
      <p:sp>
        <p:nvSpPr>
          <p:cNvPr id="60" name="Text 58"/>
          <p:cNvSpPr/>
          <p:nvPr/>
        </p:nvSpPr>
        <p:spPr>
          <a:xfrm>
            <a:off x="7498080" y="4690872"/>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61" name="Shape 59"/>
          <p:cNvSpPr/>
          <p:nvPr/>
        </p:nvSpPr>
        <p:spPr>
          <a:xfrm>
            <a:off x="8119872" y="4690872"/>
            <a:ext cx="484632" cy="393192"/>
          </a:xfrm>
          <a:prstGeom prst="rect">
            <a:avLst/>
          </a:prstGeom>
          <a:solidFill>
            <a:srgbClr val="D4E5E2"/>
          </a:solidFill>
          <a:ln w="7620">
            <a:solidFill>
              <a:srgbClr val="D4E5E2"/>
            </a:solidFill>
            <a:prstDash val="solid"/>
          </a:ln>
        </p:spPr>
      </p:sp>
      <p:sp>
        <p:nvSpPr>
          <p:cNvPr id="62" name="Text 60"/>
          <p:cNvSpPr/>
          <p:nvPr/>
        </p:nvSpPr>
        <p:spPr>
          <a:xfrm>
            <a:off x="8119872" y="4690872"/>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I/R</a:t>
            </a:r>
            <a:endParaRPr lang="en-US" sz="1300" dirty="0"/>
          </a:p>
        </p:txBody>
      </p:sp>
      <p:sp>
        <p:nvSpPr>
          <p:cNvPr id="63" name="Shape 61"/>
          <p:cNvSpPr/>
          <p:nvPr/>
        </p:nvSpPr>
        <p:spPr>
          <a:xfrm>
            <a:off x="8741664" y="4690872"/>
            <a:ext cx="484632" cy="393192"/>
          </a:xfrm>
          <a:prstGeom prst="rect">
            <a:avLst/>
          </a:prstGeom>
          <a:solidFill>
            <a:srgbClr val="83B6AE"/>
          </a:solidFill>
          <a:ln w="7620">
            <a:solidFill>
              <a:srgbClr val="83B6AE"/>
            </a:solidFill>
            <a:prstDash val="solid"/>
          </a:ln>
        </p:spPr>
      </p:sp>
      <p:sp>
        <p:nvSpPr>
          <p:cNvPr id="64" name="Text 62"/>
          <p:cNvSpPr/>
          <p:nvPr/>
        </p:nvSpPr>
        <p:spPr>
          <a:xfrm>
            <a:off x="8741664" y="4690872"/>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65" name="Shape 63"/>
          <p:cNvSpPr/>
          <p:nvPr/>
        </p:nvSpPr>
        <p:spPr>
          <a:xfrm>
            <a:off x="9363456" y="4690872"/>
            <a:ext cx="484632" cy="393192"/>
          </a:xfrm>
          <a:prstGeom prst="rect">
            <a:avLst/>
          </a:prstGeom>
          <a:solidFill>
            <a:srgbClr val="83B6AE"/>
          </a:solidFill>
          <a:ln w="7620">
            <a:solidFill>
              <a:srgbClr val="83B6AE"/>
            </a:solidFill>
            <a:prstDash val="solid"/>
          </a:ln>
        </p:spPr>
      </p:sp>
      <p:sp>
        <p:nvSpPr>
          <p:cNvPr id="66" name="Text 64"/>
          <p:cNvSpPr/>
          <p:nvPr/>
        </p:nvSpPr>
        <p:spPr>
          <a:xfrm>
            <a:off x="9363456" y="4690872"/>
            <a:ext cx="484632" cy="393192"/>
          </a:xfrm>
          <a:prstGeom prst="rect">
            <a:avLst/>
          </a:prstGeom>
          <a:noFill/>
          <a:ln/>
        </p:spPr>
        <p:txBody>
          <a:bodyPr wrap="square" lIns="0" tIns="0" rIns="0" bIns="0" rtlCol="0" anchor="ctr"/>
          <a:lstStyle/>
          <a:p>
            <a:pPr algn="ctr" indent="0" marL="0">
              <a:buNone/>
            </a:pPr>
            <a:r>
              <a:rPr lang="en-US" sz="1300" b="1" dirty="0">
                <a:solidFill>
                  <a:srgbClr val="193B3B"/>
                </a:solidFill>
                <a:latin typeface="Arial Unicode MS" pitchFamily="34" charset="0"/>
                <a:ea typeface="Arial Unicode MS" pitchFamily="34" charset="-122"/>
                <a:cs typeface="Arial Unicode MS" pitchFamily="34" charset="-120"/>
              </a:rPr>
              <a:t>S</a:t>
            </a:r>
            <a:endParaRPr lang="en-US" sz="1300" dirty="0"/>
          </a:p>
        </p:txBody>
      </p:sp>
      <p:sp>
        <p:nvSpPr>
          <p:cNvPr id="67" name="Shape 65"/>
          <p:cNvSpPr/>
          <p:nvPr/>
        </p:nvSpPr>
        <p:spPr>
          <a:xfrm>
            <a:off x="9985248" y="4690872"/>
            <a:ext cx="484632" cy="393192"/>
          </a:xfrm>
          <a:prstGeom prst="rect">
            <a:avLst/>
          </a:prstGeom>
          <a:solidFill>
            <a:srgbClr val="517573"/>
          </a:solidFill>
          <a:ln w="7620">
            <a:solidFill>
              <a:srgbClr val="517573"/>
            </a:solidFill>
            <a:prstDash val="solid"/>
          </a:ln>
        </p:spPr>
      </p:sp>
      <p:sp>
        <p:nvSpPr>
          <p:cNvPr id="68" name="Text 66"/>
          <p:cNvSpPr/>
          <p:nvPr/>
        </p:nvSpPr>
        <p:spPr>
          <a:xfrm>
            <a:off x="9985248" y="4690872"/>
            <a:ext cx="48463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Unicode MS" pitchFamily="34" charset="0"/>
                <a:ea typeface="Arial Unicode MS" pitchFamily="34" charset="-122"/>
                <a:cs typeface="Arial Unicode MS" pitchFamily="34" charset="-120"/>
              </a:rPr>
              <a:t>?</a:t>
            </a:r>
            <a:endParaRPr lang="en-US" sz="1300" dirty="0"/>
          </a:p>
        </p:txBody>
      </p:sp>
      <p:sp>
        <p:nvSpPr>
          <p:cNvPr id="69" name="Text 67"/>
          <p:cNvSpPr/>
          <p:nvPr/>
        </p:nvSpPr>
        <p:spPr>
          <a:xfrm>
            <a:off x="7406640" y="5513832"/>
            <a:ext cx="3474720" cy="320040"/>
          </a:xfrm>
          <a:prstGeom prst="rect">
            <a:avLst/>
          </a:prstGeom>
          <a:noFill/>
          <a:ln/>
        </p:spPr>
        <p:txBody>
          <a:bodyPr wrap="square" lIns="0" tIns="0" rIns="0" bIns="0" rtlCol="0" anchor="ctr"/>
          <a:lstStyle/>
          <a:p>
            <a:pPr indent="0" marL="0">
              <a:buNone/>
            </a:pPr>
            <a:r>
              <a:rPr lang="en-US" sz="1600" dirty="0">
                <a:solidFill>
                  <a:srgbClr val="B7D5D3"/>
                </a:solidFill>
                <a:latin typeface="Arial Unicode MS" pitchFamily="34" charset="0"/>
                <a:ea typeface="Arial Unicode MS" pitchFamily="34" charset="-122"/>
                <a:cs typeface="Arial Unicode MS" pitchFamily="34" charset="-120"/>
              </a:rPr>
              <a:t>사례 × 항생제 반응</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01  문제와 접근</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연구 질문: 기존 검사로 새 목표약의 반응을 얼마나 예측할까?</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02</a:t>
            </a:r>
            <a:endParaRPr lang="en-US" sz="1100" dirty="0"/>
          </a:p>
        </p:txBody>
      </p:sp>
      <p:sp>
        <p:nvSpPr>
          <p:cNvPr id="6" name="Shape 4"/>
          <p:cNvSpPr/>
          <p:nvPr/>
        </p:nvSpPr>
        <p:spPr>
          <a:xfrm>
            <a:off x="594360" y="2103120"/>
            <a:ext cx="3429000" cy="2103120"/>
          </a:xfrm>
          <a:prstGeom prst="rect">
            <a:avLst/>
          </a:prstGeom>
          <a:solidFill>
            <a:srgbClr val="EDF3F3"/>
          </a:solidFill>
          <a:ln w="7620">
            <a:solidFill>
              <a:srgbClr val="EDF3F3"/>
            </a:solidFill>
            <a:prstDash val="solid"/>
          </a:ln>
        </p:spPr>
      </p:sp>
      <p:sp>
        <p:nvSpPr>
          <p:cNvPr id="7" name="Text 5"/>
          <p:cNvSpPr/>
          <p:nvPr/>
        </p:nvSpPr>
        <p:spPr>
          <a:xfrm>
            <a:off x="822960" y="2286000"/>
            <a:ext cx="29718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알고 있는 것</a:t>
            </a:r>
            <a:endParaRPr lang="en-US" sz="2200" dirty="0"/>
          </a:p>
        </p:txBody>
      </p:sp>
      <p:sp>
        <p:nvSpPr>
          <p:cNvPr id="8" name="Text 6"/>
          <p:cNvSpPr/>
          <p:nvPr/>
        </p:nvSpPr>
        <p:spPr>
          <a:xfrm>
            <a:off x="822960" y="2971800"/>
            <a:ext cx="2971800" cy="106984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한 사례에서 관측한</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기존 항생제 4개의 검사 결과</a:t>
            </a:r>
            <a:endParaRPr lang="en-US" sz="1800" dirty="0"/>
          </a:p>
        </p:txBody>
      </p:sp>
      <p:sp>
        <p:nvSpPr>
          <p:cNvPr id="9" name="Shape 7"/>
          <p:cNvSpPr/>
          <p:nvPr/>
        </p:nvSpPr>
        <p:spPr>
          <a:xfrm>
            <a:off x="4370832" y="2103120"/>
            <a:ext cx="3429000" cy="2103120"/>
          </a:xfrm>
          <a:prstGeom prst="rect">
            <a:avLst/>
          </a:prstGeom>
          <a:solidFill>
            <a:srgbClr val="EDF3F3"/>
          </a:solidFill>
          <a:ln w="7620">
            <a:solidFill>
              <a:srgbClr val="EDF3F3"/>
            </a:solidFill>
            <a:prstDash val="solid"/>
          </a:ln>
        </p:spPr>
      </p:sp>
      <p:sp>
        <p:nvSpPr>
          <p:cNvPr id="10" name="Text 8"/>
          <p:cNvSpPr/>
          <p:nvPr/>
        </p:nvSpPr>
        <p:spPr>
          <a:xfrm>
            <a:off x="4599432" y="2286000"/>
            <a:ext cx="29718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추가로 얻는 것</a:t>
            </a:r>
            <a:endParaRPr lang="en-US" sz="2200" dirty="0"/>
          </a:p>
        </p:txBody>
      </p:sp>
      <p:sp>
        <p:nvSpPr>
          <p:cNvPr id="11" name="Text 9"/>
          <p:cNvSpPr/>
          <p:nvPr/>
        </p:nvSpPr>
        <p:spPr>
          <a:xfrm>
            <a:off x="4599432" y="2971800"/>
            <a:ext cx="2971800" cy="106984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목표 항생제의 정답이 있는</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소수 사례: support</a:t>
            </a:r>
            <a:endParaRPr lang="en-US" sz="1800" dirty="0"/>
          </a:p>
        </p:txBody>
      </p:sp>
      <p:sp>
        <p:nvSpPr>
          <p:cNvPr id="12" name="Shape 10"/>
          <p:cNvSpPr/>
          <p:nvPr/>
        </p:nvSpPr>
        <p:spPr>
          <a:xfrm>
            <a:off x="8147304" y="2103120"/>
            <a:ext cx="3429000" cy="2103120"/>
          </a:xfrm>
          <a:prstGeom prst="rect">
            <a:avLst/>
          </a:prstGeom>
          <a:solidFill>
            <a:srgbClr val="EDF3F3"/>
          </a:solidFill>
          <a:ln w="7620">
            <a:solidFill>
              <a:srgbClr val="EDF3F3"/>
            </a:solidFill>
            <a:prstDash val="solid"/>
          </a:ln>
        </p:spPr>
      </p:sp>
      <p:sp>
        <p:nvSpPr>
          <p:cNvPr id="13" name="Text 11"/>
          <p:cNvSpPr/>
          <p:nvPr/>
        </p:nvSpPr>
        <p:spPr>
          <a:xfrm>
            <a:off x="8375904" y="2286000"/>
            <a:ext cx="29718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예측할 것</a:t>
            </a:r>
            <a:endParaRPr lang="en-US" sz="2200" dirty="0"/>
          </a:p>
        </p:txBody>
      </p:sp>
      <p:sp>
        <p:nvSpPr>
          <p:cNvPr id="14" name="Text 12"/>
          <p:cNvSpPr/>
          <p:nvPr/>
        </p:nvSpPr>
        <p:spPr>
          <a:xfrm>
            <a:off x="8375904" y="2971800"/>
            <a:ext cx="2971800" cy="106984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목표 항생제의 결과를 가린</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다른 사례: query</a:t>
            </a:r>
            <a:endParaRPr lang="en-US" sz="1800" dirty="0"/>
          </a:p>
        </p:txBody>
      </p:sp>
      <p:sp>
        <p:nvSpPr>
          <p:cNvPr id="15" name="Text 13"/>
          <p:cNvSpPr/>
          <p:nvPr/>
        </p:nvSpPr>
        <p:spPr>
          <a:xfrm>
            <a:off x="777240" y="4892040"/>
            <a:ext cx="10698480" cy="548640"/>
          </a:xfrm>
          <a:prstGeom prst="rect">
            <a:avLst/>
          </a:prstGeom>
          <a:noFill/>
          <a:ln/>
        </p:spPr>
        <p:txBody>
          <a:bodyPr wrap="square" lIns="0" tIns="0" rIns="0" bIns="0" rtlCol="0" anchor="ctr"/>
          <a:lstStyle/>
          <a:p>
            <a:pPr indent="0" marL="0">
              <a:buNone/>
            </a:pPr>
            <a:r>
              <a:rPr lang="en-US" sz="2300" b="1" dirty="0">
                <a:solidFill>
                  <a:srgbClr val="187D80"/>
                </a:solidFill>
                <a:latin typeface="Arial Unicode MS" pitchFamily="34" charset="0"/>
                <a:ea typeface="Arial Unicode MS" pitchFamily="34" charset="-122"/>
                <a:cs typeface="Arial Unicode MS" pitchFamily="34" charset="-120"/>
              </a:rPr>
              <a:t>‘신규약’ = 모델의 사전학습에 포함되지 않은 목표 항생제</a:t>
            </a:r>
            <a:endParaRPr lang="en-US" sz="2300" dirty="0"/>
          </a:p>
        </p:txBody>
      </p:sp>
      <p:sp>
        <p:nvSpPr>
          <p:cNvPr id="16" name="Text 14"/>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항생제 감수성 검사(AST): 배양된 균이 특정 항생제에 감수성을 보이는지 확인하는 검사</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01  입력 이해</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한 사례에는 네 검사 결과와 하나의 예측 목표가 있다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03</a:t>
            </a:r>
            <a:endParaRPr lang="en-US" sz="1100" dirty="0"/>
          </a:p>
        </p:txBody>
      </p:sp>
      <p:sp>
        <p:nvSpPr>
          <p:cNvPr id="6" name="Text 4"/>
          <p:cNvSpPr/>
          <p:nvPr/>
        </p:nvSpPr>
        <p:spPr>
          <a:xfrm>
            <a:off x="640080" y="1874520"/>
            <a:ext cx="7315200" cy="320040"/>
          </a:xfrm>
          <a:prstGeom prst="rect">
            <a:avLst/>
          </a:prstGeom>
          <a:noFill/>
          <a:ln/>
        </p:spPr>
        <p:txBody>
          <a:bodyPr wrap="square" lIns="0" tIns="0" rIns="0" bIns="0" rtlCol="0" anchor="ctr"/>
          <a:lstStyle/>
          <a:p>
            <a:pPr indent="0" marL="0">
              <a:buNone/>
            </a:pPr>
            <a:r>
              <a:rPr lang="en-US" sz="1400" b="1" dirty="0">
                <a:solidFill>
                  <a:srgbClr val="187D80"/>
                </a:solidFill>
                <a:latin typeface="Arial Unicode MS" pitchFamily="34" charset="0"/>
                <a:ea typeface="Arial Unicode MS" pitchFamily="34" charset="-122"/>
                <a:cs typeface="Arial Unicode MS" pitchFamily="34" charset="-120"/>
              </a:rPr>
              <a:t>가상 예시 · 실제 환자 기록이 아님</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377440"/>
          <a:ext cx="5212080" cy="914400"/>
        </p:xfrm>
        <a:graphic>
          <a:graphicData uri="http://schemas.openxmlformats.org/drawingml/2006/table">
            <a:tbl>
              <a:tblPr/>
              <a:tblGrid>
                <a:gridCol w="2606040"/>
                <a:gridCol w="2606040"/>
              </a:tblGrid>
              <a:tr h="457200">
                <a:tc>
                  <a:txBody>
                    <a:bodyPr/>
                    <a:lstStyle/>
                    <a:p>
                      <a:pPr indent="0" marL="0">
                        <a:buNone/>
                      </a:pPr>
                      <a:r>
                        <a:rPr lang="en-US" sz="1900" b="1" dirty="0">
                          <a:solidFill>
                            <a:srgbClr val="FFFFFF"/>
                          </a:solidFill>
                          <a:latin typeface="Arial Unicode MS" pitchFamily="34" charset="0"/>
                          <a:ea typeface="Arial Unicode MS" pitchFamily="34" charset="-122"/>
                          <a:cs typeface="Arial Unicode MS" pitchFamily="34" charset="-120"/>
                        </a:rPr>
                        <a:t>기존약</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900" b="1" dirty="0">
                          <a:solidFill>
                            <a:srgbClr val="FFFFFF"/>
                          </a:solidFill>
                          <a:latin typeface="Arial Unicode MS" pitchFamily="34" charset="0"/>
                          <a:ea typeface="Arial Unicode MS" pitchFamily="34" charset="-122"/>
                          <a:cs typeface="Arial Unicode MS" pitchFamily="34" charset="-120"/>
                        </a:rPr>
                        <a:t>관측 결과</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r>
              <a:tr h="457200">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Cefepime</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감수성 S</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57200">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Ciprofloxacin</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비감수성 I/R</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57200">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Tobramycin</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감수성 S</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57200">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Piperacillin/tazobactam</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감수성 S</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bl>
          </a:graphicData>
        </a:graphic>
      </p:graphicFrame>
      <p:sp>
        <p:nvSpPr>
          <p:cNvPr id="8" name="Shape 5"/>
          <p:cNvSpPr/>
          <p:nvPr/>
        </p:nvSpPr>
        <p:spPr>
          <a:xfrm>
            <a:off x="6080760" y="3429000"/>
            <a:ext cx="640080" cy="0"/>
          </a:xfrm>
          <a:prstGeom prst="line">
            <a:avLst/>
          </a:prstGeom>
          <a:noFill/>
          <a:ln w="19050">
            <a:solidFill>
              <a:srgbClr val="187D80"/>
            </a:solidFill>
            <a:prstDash val="solid"/>
            <a:tailEnd type="triangle"/>
          </a:ln>
        </p:spPr>
      </p:sp>
      <p:sp>
        <p:nvSpPr>
          <p:cNvPr id="9" name="Shape 6"/>
          <p:cNvSpPr/>
          <p:nvPr/>
        </p:nvSpPr>
        <p:spPr>
          <a:xfrm>
            <a:off x="7040880" y="2423160"/>
            <a:ext cx="4480560" cy="2651760"/>
          </a:xfrm>
          <a:prstGeom prst="rect">
            <a:avLst/>
          </a:prstGeom>
          <a:solidFill>
            <a:srgbClr val="EDF3F3"/>
          </a:solidFill>
          <a:ln w="7620">
            <a:solidFill>
              <a:srgbClr val="EDF3F3"/>
            </a:solidFill>
            <a:prstDash val="solid"/>
          </a:ln>
        </p:spPr>
      </p:sp>
      <p:sp>
        <p:nvSpPr>
          <p:cNvPr id="10" name="Text 7"/>
          <p:cNvSpPr/>
          <p:nvPr/>
        </p:nvSpPr>
        <p:spPr>
          <a:xfrm>
            <a:off x="7269480" y="2606040"/>
            <a:ext cx="402336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목표약: Meropenem</a:t>
            </a:r>
            <a:endParaRPr lang="en-US" sz="2200" dirty="0"/>
          </a:p>
        </p:txBody>
      </p:sp>
      <p:sp>
        <p:nvSpPr>
          <p:cNvPr id="11" name="Text 8"/>
          <p:cNvSpPr/>
          <p:nvPr/>
        </p:nvSpPr>
        <p:spPr>
          <a:xfrm>
            <a:off x="7269480" y="3291840"/>
            <a:ext cx="4023360" cy="161848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support 사례 → 정답을 적응에 사용</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query 사례 → 정답은 평가에 사용</a:t>
            </a:r>
            <a:endParaRPr lang="en-US" sz="1800" dirty="0"/>
          </a:p>
        </p:txBody>
      </p:sp>
      <p:sp>
        <p:nvSpPr>
          <p:cNvPr id="12" name="Text 9"/>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사례(episode)는 배양 검체·균종 등에 따라 구성한 분석 단위. 한 환자가 여러 사례를 가질 수 있음</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02  CDLD 소개</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CDLD: 관측된 관계에서 양쪽 대상의 특징을 학습한다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04</a:t>
            </a:r>
            <a:endParaRPr lang="en-US" sz="1100" dirty="0"/>
          </a:p>
        </p:txBody>
      </p:sp>
      <p:sp>
        <p:nvSpPr>
          <p:cNvPr id="6" name="Text 4"/>
          <p:cNvSpPr/>
          <p:nvPr/>
        </p:nvSpPr>
        <p:spPr>
          <a:xfrm>
            <a:off x="685800" y="1828800"/>
            <a:ext cx="9144000" cy="320040"/>
          </a:xfrm>
          <a:prstGeom prst="rect">
            <a:avLst/>
          </a:prstGeom>
          <a:noFill/>
          <a:ln/>
        </p:spPr>
        <p:txBody>
          <a:bodyPr wrap="square" lIns="0" tIns="0" rIns="0" bIns="0" rtlCol="0" anchor="ctr"/>
          <a:lstStyle/>
          <a:p>
            <a:pPr indent="0" marL="0">
              <a:buNone/>
            </a:pPr>
            <a:r>
              <a:rPr lang="en-US" sz="1400" b="1" dirty="0">
                <a:solidFill>
                  <a:srgbClr val="187D80"/>
                </a:solidFill>
                <a:latin typeface="Arial Unicode MS" pitchFamily="34" charset="0"/>
                <a:ea typeface="Arial Unicode MS" pitchFamily="34" charset="-122"/>
                <a:cs typeface="Arial Unicode MS" pitchFamily="34" charset="-120"/>
              </a:rPr>
              <a:t>Cyclic Dual Latent Discovery</a:t>
            </a:r>
            <a:endParaRPr lang="en-US" sz="1400" dirty="0"/>
          </a:p>
        </p:txBody>
      </p:sp>
      <p:sp>
        <p:nvSpPr>
          <p:cNvPr id="7" name="Text 5"/>
          <p:cNvSpPr/>
          <p:nvPr/>
        </p:nvSpPr>
        <p:spPr>
          <a:xfrm>
            <a:off x="685800" y="2395728"/>
            <a:ext cx="6400800" cy="320040"/>
          </a:xfrm>
          <a:prstGeom prst="rect">
            <a:avLst/>
          </a:prstGeom>
          <a:noFill/>
          <a:ln/>
        </p:spPr>
        <p:txBody>
          <a:bodyPr wrap="square" lIns="0" tIns="0" rIns="0" bIns="0" rtlCol="0" anchor="ctr"/>
          <a:lstStyle/>
          <a:p>
            <a:pPr indent="0" marL="0">
              <a:buNone/>
            </a:pPr>
            <a:r>
              <a:rPr lang="en-US" sz="1400" b="1" dirty="0">
                <a:solidFill>
                  <a:srgbClr val="66747A"/>
                </a:solidFill>
                <a:latin typeface="Arial Unicode MS" pitchFamily="34" charset="0"/>
                <a:ea typeface="Arial Unicode MS" pitchFamily="34" charset="-122"/>
                <a:cs typeface="Arial Unicode MS" pitchFamily="34" charset="-120"/>
              </a:rPr>
              <a:t>출발점: 두 종류 대상 사이의 반응 기록</a:t>
            </a:r>
            <a:endParaRPr lang="en-US" sz="1400" dirty="0"/>
          </a:p>
        </p:txBody>
      </p:sp>
      <p:sp>
        <p:nvSpPr>
          <p:cNvPr id="8" name="Text 6"/>
          <p:cNvSpPr/>
          <p:nvPr/>
        </p:nvSpPr>
        <p:spPr>
          <a:xfrm>
            <a:off x="1444752" y="2779776"/>
            <a:ext cx="713232" cy="292608"/>
          </a:xfrm>
          <a:prstGeom prst="rect">
            <a:avLst/>
          </a:prstGeom>
          <a:noFill/>
          <a:ln/>
        </p:spPr>
        <p:txBody>
          <a:bodyPr wrap="square" lIns="0" tIns="0" rIns="0" bIns="0" rtlCol="0" anchor="ctr"/>
          <a:lstStyle/>
          <a:p>
            <a:pPr algn="ctr" indent="0" marL="0">
              <a:buNone/>
            </a:pPr>
            <a:r>
              <a:rPr lang="en-US" sz="1400" b="1" dirty="0">
                <a:solidFill>
                  <a:srgbClr val="193B3B"/>
                </a:solidFill>
                <a:latin typeface="Arial Unicode MS" pitchFamily="34" charset="0"/>
                <a:ea typeface="Arial Unicode MS" pitchFamily="34" charset="-122"/>
                <a:cs typeface="Arial Unicode MS" pitchFamily="34" charset="-120"/>
              </a:rPr>
              <a:t>약물 A</a:t>
            </a:r>
            <a:endParaRPr lang="en-US" sz="1400" dirty="0"/>
          </a:p>
        </p:txBody>
      </p:sp>
      <p:sp>
        <p:nvSpPr>
          <p:cNvPr id="9" name="Text 7"/>
          <p:cNvSpPr/>
          <p:nvPr/>
        </p:nvSpPr>
        <p:spPr>
          <a:xfrm>
            <a:off x="2267712" y="2779776"/>
            <a:ext cx="713232" cy="292608"/>
          </a:xfrm>
          <a:prstGeom prst="rect">
            <a:avLst/>
          </a:prstGeom>
          <a:noFill/>
          <a:ln/>
        </p:spPr>
        <p:txBody>
          <a:bodyPr wrap="square" lIns="0" tIns="0" rIns="0" bIns="0" rtlCol="0" anchor="ctr"/>
          <a:lstStyle/>
          <a:p>
            <a:pPr algn="ctr" indent="0" marL="0">
              <a:buNone/>
            </a:pPr>
            <a:r>
              <a:rPr lang="en-US" sz="1400" b="1" dirty="0">
                <a:solidFill>
                  <a:srgbClr val="193B3B"/>
                </a:solidFill>
                <a:latin typeface="Arial Unicode MS" pitchFamily="34" charset="0"/>
                <a:ea typeface="Arial Unicode MS" pitchFamily="34" charset="-122"/>
                <a:cs typeface="Arial Unicode MS" pitchFamily="34" charset="-120"/>
              </a:rPr>
              <a:t>약물 B</a:t>
            </a:r>
            <a:endParaRPr lang="en-US" sz="1400" dirty="0"/>
          </a:p>
        </p:txBody>
      </p:sp>
      <p:sp>
        <p:nvSpPr>
          <p:cNvPr id="10" name="Text 8"/>
          <p:cNvSpPr/>
          <p:nvPr/>
        </p:nvSpPr>
        <p:spPr>
          <a:xfrm>
            <a:off x="3090672" y="2779776"/>
            <a:ext cx="713232" cy="292608"/>
          </a:xfrm>
          <a:prstGeom prst="rect">
            <a:avLst/>
          </a:prstGeom>
          <a:noFill/>
          <a:ln/>
        </p:spPr>
        <p:txBody>
          <a:bodyPr wrap="square" lIns="0" tIns="0" rIns="0" bIns="0" rtlCol="0" anchor="ctr"/>
          <a:lstStyle/>
          <a:p>
            <a:pPr algn="ctr" indent="0" marL="0">
              <a:buNone/>
            </a:pPr>
            <a:r>
              <a:rPr lang="en-US" sz="1400" b="1" dirty="0">
                <a:solidFill>
                  <a:srgbClr val="193B3B"/>
                </a:solidFill>
                <a:latin typeface="Arial Unicode MS" pitchFamily="34" charset="0"/>
                <a:ea typeface="Arial Unicode MS" pitchFamily="34" charset="-122"/>
                <a:cs typeface="Arial Unicode MS" pitchFamily="34" charset="-120"/>
              </a:rPr>
              <a:t>약물 C</a:t>
            </a:r>
            <a:endParaRPr lang="en-US" sz="1400" dirty="0"/>
          </a:p>
        </p:txBody>
      </p:sp>
      <p:sp>
        <p:nvSpPr>
          <p:cNvPr id="11" name="Text 9"/>
          <p:cNvSpPr/>
          <p:nvPr/>
        </p:nvSpPr>
        <p:spPr>
          <a:xfrm>
            <a:off x="3913632" y="2779776"/>
            <a:ext cx="713232" cy="292608"/>
          </a:xfrm>
          <a:prstGeom prst="rect">
            <a:avLst/>
          </a:prstGeom>
          <a:noFill/>
          <a:ln/>
        </p:spPr>
        <p:txBody>
          <a:bodyPr wrap="square" lIns="0" tIns="0" rIns="0" bIns="0" rtlCol="0" anchor="ctr"/>
          <a:lstStyle/>
          <a:p>
            <a:pPr algn="ctr" indent="0" marL="0">
              <a:buNone/>
            </a:pPr>
            <a:r>
              <a:rPr lang="en-US" sz="1400" b="1" dirty="0">
                <a:solidFill>
                  <a:srgbClr val="193B3B"/>
                </a:solidFill>
                <a:latin typeface="Arial Unicode MS" pitchFamily="34" charset="0"/>
                <a:ea typeface="Arial Unicode MS" pitchFamily="34" charset="-122"/>
                <a:cs typeface="Arial Unicode MS" pitchFamily="34" charset="-120"/>
              </a:rPr>
              <a:t>약물 D</a:t>
            </a:r>
            <a:endParaRPr lang="en-US" sz="1400" dirty="0"/>
          </a:p>
        </p:txBody>
      </p:sp>
      <p:sp>
        <p:nvSpPr>
          <p:cNvPr id="12" name="Text 10"/>
          <p:cNvSpPr/>
          <p:nvPr/>
        </p:nvSpPr>
        <p:spPr>
          <a:xfrm>
            <a:off x="667512" y="3218688"/>
            <a:ext cx="731520" cy="384048"/>
          </a:xfrm>
          <a:prstGeom prst="rect">
            <a:avLst/>
          </a:prstGeom>
          <a:noFill/>
          <a:ln/>
        </p:spPr>
        <p:txBody>
          <a:bodyPr wrap="square" lIns="0" tIns="0" rIns="0" bIns="0" rtlCol="0" anchor="ctr"/>
          <a:lstStyle/>
          <a:p>
            <a:pPr indent="0" marL="0">
              <a:buNone/>
            </a:pPr>
            <a:r>
              <a:rPr lang="en-US" sz="1500" dirty="0">
                <a:solidFill>
                  <a:srgbClr val="193B3B"/>
                </a:solidFill>
                <a:latin typeface="Arial Unicode MS" pitchFamily="34" charset="0"/>
                <a:ea typeface="Arial Unicode MS" pitchFamily="34" charset="-122"/>
                <a:cs typeface="Arial Unicode MS" pitchFamily="34" charset="-120"/>
              </a:rPr>
              <a:t>사례 1</a:t>
            </a:r>
            <a:endParaRPr lang="en-US" sz="1500" dirty="0"/>
          </a:p>
        </p:txBody>
      </p:sp>
      <p:sp>
        <p:nvSpPr>
          <p:cNvPr id="13" name="Shape 11"/>
          <p:cNvSpPr/>
          <p:nvPr/>
        </p:nvSpPr>
        <p:spPr>
          <a:xfrm>
            <a:off x="1463040" y="3200400"/>
            <a:ext cx="658368" cy="384048"/>
          </a:xfrm>
          <a:prstGeom prst="rect">
            <a:avLst/>
          </a:prstGeom>
          <a:solidFill>
            <a:srgbClr val="EDF3F3"/>
          </a:solidFill>
          <a:ln w="7620">
            <a:solidFill>
              <a:srgbClr val="EDF3F3"/>
            </a:solidFill>
            <a:prstDash val="solid"/>
          </a:ln>
        </p:spPr>
      </p:sp>
      <p:sp>
        <p:nvSpPr>
          <p:cNvPr id="14" name="Text 12"/>
          <p:cNvSpPr/>
          <p:nvPr/>
        </p:nvSpPr>
        <p:spPr>
          <a:xfrm>
            <a:off x="1463040" y="3200400"/>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S</a:t>
            </a:r>
            <a:endParaRPr lang="en-US" sz="1700" dirty="0"/>
          </a:p>
        </p:txBody>
      </p:sp>
      <p:sp>
        <p:nvSpPr>
          <p:cNvPr id="15" name="Shape 13"/>
          <p:cNvSpPr/>
          <p:nvPr/>
        </p:nvSpPr>
        <p:spPr>
          <a:xfrm>
            <a:off x="2286000" y="3200400"/>
            <a:ext cx="658368" cy="384048"/>
          </a:xfrm>
          <a:prstGeom prst="rect">
            <a:avLst/>
          </a:prstGeom>
          <a:solidFill>
            <a:srgbClr val="EDF3F3"/>
          </a:solidFill>
          <a:ln w="7620">
            <a:solidFill>
              <a:srgbClr val="EDF3F3"/>
            </a:solidFill>
            <a:prstDash val="solid"/>
          </a:ln>
        </p:spPr>
      </p:sp>
      <p:sp>
        <p:nvSpPr>
          <p:cNvPr id="16" name="Text 14"/>
          <p:cNvSpPr/>
          <p:nvPr/>
        </p:nvSpPr>
        <p:spPr>
          <a:xfrm>
            <a:off x="2286000" y="3200400"/>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I/R</a:t>
            </a:r>
            <a:endParaRPr lang="en-US" sz="1700" dirty="0"/>
          </a:p>
        </p:txBody>
      </p:sp>
      <p:sp>
        <p:nvSpPr>
          <p:cNvPr id="17" name="Shape 15"/>
          <p:cNvSpPr/>
          <p:nvPr/>
        </p:nvSpPr>
        <p:spPr>
          <a:xfrm>
            <a:off x="3108960" y="3200400"/>
            <a:ext cx="658368" cy="384048"/>
          </a:xfrm>
          <a:prstGeom prst="rect">
            <a:avLst/>
          </a:prstGeom>
          <a:solidFill>
            <a:srgbClr val="F4F6F6"/>
          </a:solidFill>
          <a:ln w="7620">
            <a:solidFill>
              <a:srgbClr val="F4F6F6"/>
            </a:solidFill>
            <a:prstDash val="solid"/>
          </a:ln>
        </p:spPr>
      </p:sp>
      <p:sp>
        <p:nvSpPr>
          <p:cNvPr id="18" name="Text 16"/>
          <p:cNvSpPr/>
          <p:nvPr/>
        </p:nvSpPr>
        <p:spPr>
          <a:xfrm>
            <a:off x="3108960" y="3200400"/>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a:t>
            </a:r>
            <a:endParaRPr lang="en-US" sz="1700" dirty="0"/>
          </a:p>
        </p:txBody>
      </p:sp>
      <p:sp>
        <p:nvSpPr>
          <p:cNvPr id="19" name="Shape 17"/>
          <p:cNvSpPr/>
          <p:nvPr/>
        </p:nvSpPr>
        <p:spPr>
          <a:xfrm>
            <a:off x="3931920" y="3200400"/>
            <a:ext cx="658368" cy="384048"/>
          </a:xfrm>
          <a:prstGeom prst="rect">
            <a:avLst/>
          </a:prstGeom>
          <a:solidFill>
            <a:srgbClr val="EDF3F3"/>
          </a:solidFill>
          <a:ln w="7620">
            <a:solidFill>
              <a:srgbClr val="EDF3F3"/>
            </a:solidFill>
            <a:prstDash val="solid"/>
          </a:ln>
        </p:spPr>
      </p:sp>
      <p:sp>
        <p:nvSpPr>
          <p:cNvPr id="20" name="Text 18"/>
          <p:cNvSpPr/>
          <p:nvPr/>
        </p:nvSpPr>
        <p:spPr>
          <a:xfrm>
            <a:off x="3931920" y="3200400"/>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S</a:t>
            </a:r>
            <a:endParaRPr lang="en-US" sz="1700" dirty="0"/>
          </a:p>
        </p:txBody>
      </p:sp>
      <p:sp>
        <p:nvSpPr>
          <p:cNvPr id="21" name="Text 19"/>
          <p:cNvSpPr/>
          <p:nvPr/>
        </p:nvSpPr>
        <p:spPr>
          <a:xfrm>
            <a:off x="667512" y="3730752"/>
            <a:ext cx="731520" cy="384048"/>
          </a:xfrm>
          <a:prstGeom prst="rect">
            <a:avLst/>
          </a:prstGeom>
          <a:noFill/>
          <a:ln/>
        </p:spPr>
        <p:txBody>
          <a:bodyPr wrap="square" lIns="0" tIns="0" rIns="0" bIns="0" rtlCol="0" anchor="ctr"/>
          <a:lstStyle/>
          <a:p>
            <a:pPr indent="0" marL="0">
              <a:buNone/>
            </a:pPr>
            <a:r>
              <a:rPr lang="en-US" sz="1500" dirty="0">
                <a:solidFill>
                  <a:srgbClr val="193B3B"/>
                </a:solidFill>
                <a:latin typeface="Arial Unicode MS" pitchFamily="34" charset="0"/>
                <a:ea typeface="Arial Unicode MS" pitchFamily="34" charset="-122"/>
                <a:cs typeface="Arial Unicode MS" pitchFamily="34" charset="-120"/>
              </a:rPr>
              <a:t>사례 2</a:t>
            </a:r>
            <a:endParaRPr lang="en-US" sz="1500" dirty="0"/>
          </a:p>
        </p:txBody>
      </p:sp>
      <p:sp>
        <p:nvSpPr>
          <p:cNvPr id="22" name="Shape 20"/>
          <p:cNvSpPr/>
          <p:nvPr/>
        </p:nvSpPr>
        <p:spPr>
          <a:xfrm>
            <a:off x="1463040" y="3712464"/>
            <a:ext cx="658368" cy="384048"/>
          </a:xfrm>
          <a:prstGeom prst="rect">
            <a:avLst/>
          </a:prstGeom>
          <a:solidFill>
            <a:srgbClr val="EDF3F3"/>
          </a:solidFill>
          <a:ln w="7620">
            <a:solidFill>
              <a:srgbClr val="EDF3F3"/>
            </a:solidFill>
            <a:prstDash val="solid"/>
          </a:ln>
        </p:spPr>
      </p:sp>
      <p:sp>
        <p:nvSpPr>
          <p:cNvPr id="23" name="Text 21"/>
          <p:cNvSpPr/>
          <p:nvPr/>
        </p:nvSpPr>
        <p:spPr>
          <a:xfrm>
            <a:off x="1463040" y="3712464"/>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I/R</a:t>
            </a:r>
            <a:endParaRPr lang="en-US" sz="1700" dirty="0"/>
          </a:p>
        </p:txBody>
      </p:sp>
      <p:sp>
        <p:nvSpPr>
          <p:cNvPr id="24" name="Shape 22"/>
          <p:cNvSpPr/>
          <p:nvPr/>
        </p:nvSpPr>
        <p:spPr>
          <a:xfrm>
            <a:off x="2286000" y="3712464"/>
            <a:ext cx="658368" cy="384048"/>
          </a:xfrm>
          <a:prstGeom prst="rect">
            <a:avLst/>
          </a:prstGeom>
          <a:solidFill>
            <a:srgbClr val="EDF3F3"/>
          </a:solidFill>
          <a:ln w="7620">
            <a:solidFill>
              <a:srgbClr val="EDF3F3"/>
            </a:solidFill>
            <a:prstDash val="solid"/>
          </a:ln>
        </p:spPr>
      </p:sp>
      <p:sp>
        <p:nvSpPr>
          <p:cNvPr id="25" name="Text 23"/>
          <p:cNvSpPr/>
          <p:nvPr/>
        </p:nvSpPr>
        <p:spPr>
          <a:xfrm>
            <a:off x="2286000" y="3712464"/>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S</a:t>
            </a:r>
            <a:endParaRPr lang="en-US" sz="1700" dirty="0"/>
          </a:p>
        </p:txBody>
      </p:sp>
      <p:sp>
        <p:nvSpPr>
          <p:cNvPr id="26" name="Shape 24"/>
          <p:cNvSpPr/>
          <p:nvPr/>
        </p:nvSpPr>
        <p:spPr>
          <a:xfrm>
            <a:off x="3108960" y="3712464"/>
            <a:ext cx="658368" cy="384048"/>
          </a:xfrm>
          <a:prstGeom prst="rect">
            <a:avLst/>
          </a:prstGeom>
          <a:solidFill>
            <a:srgbClr val="EDF3F3"/>
          </a:solidFill>
          <a:ln w="7620">
            <a:solidFill>
              <a:srgbClr val="EDF3F3"/>
            </a:solidFill>
            <a:prstDash val="solid"/>
          </a:ln>
        </p:spPr>
      </p:sp>
      <p:sp>
        <p:nvSpPr>
          <p:cNvPr id="27" name="Text 25"/>
          <p:cNvSpPr/>
          <p:nvPr/>
        </p:nvSpPr>
        <p:spPr>
          <a:xfrm>
            <a:off x="3108960" y="3712464"/>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S</a:t>
            </a:r>
            <a:endParaRPr lang="en-US" sz="1700" dirty="0"/>
          </a:p>
        </p:txBody>
      </p:sp>
      <p:sp>
        <p:nvSpPr>
          <p:cNvPr id="28" name="Shape 26"/>
          <p:cNvSpPr/>
          <p:nvPr/>
        </p:nvSpPr>
        <p:spPr>
          <a:xfrm>
            <a:off x="3931920" y="3712464"/>
            <a:ext cx="658368" cy="384048"/>
          </a:xfrm>
          <a:prstGeom prst="rect">
            <a:avLst/>
          </a:prstGeom>
          <a:solidFill>
            <a:srgbClr val="F4F6F6"/>
          </a:solidFill>
          <a:ln w="7620">
            <a:solidFill>
              <a:srgbClr val="F4F6F6"/>
            </a:solidFill>
            <a:prstDash val="solid"/>
          </a:ln>
        </p:spPr>
      </p:sp>
      <p:sp>
        <p:nvSpPr>
          <p:cNvPr id="29" name="Text 27"/>
          <p:cNvSpPr/>
          <p:nvPr/>
        </p:nvSpPr>
        <p:spPr>
          <a:xfrm>
            <a:off x="3931920" y="3712464"/>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a:t>
            </a:r>
            <a:endParaRPr lang="en-US" sz="1700" dirty="0"/>
          </a:p>
        </p:txBody>
      </p:sp>
      <p:sp>
        <p:nvSpPr>
          <p:cNvPr id="30" name="Text 28"/>
          <p:cNvSpPr/>
          <p:nvPr/>
        </p:nvSpPr>
        <p:spPr>
          <a:xfrm>
            <a:off x="667512" y="4242816"/>
            <a:ext cx="731520" cy="384048"/>
          </a:xfrm>
          <a:prstGeom prst="rect">
            <a:avLst/>
          </a:prstGeom>
          <a:noFill/>
          <a:ln/>
        </p:spPr>
        <p:txBody>
          <a:bodyPr wrap="square" lIns="0" tIns="0" rIns="0" bIns="0" rtlCol="0" anchor="ctr"/>
          <a:lstStyle/>
          <a:p>
            <a:pPr indent="0" marL="0">
              <a:buNone/>
            </a:pPr>
            <a:r>
              <a:rPr lang="en-US" sz="1500" dirty="0">
                <a:solidFill>
                  <a:srgbClr val="193B3B"/>
                </a:solidFill>
                <a:latin typeface="Arial Unicode MS" pitchFamily="34" charset="0"/>
                <a:ea typeface="Arial Unicode MS" pitchFamily="34" charset="-122"/>
                <a:cs typeface="Arial Unicode MS" pitchFamily="34" charset="-120"/>
              </a:rPr>
              <a:t>사례 3</a:t>
            </a:r>
            <a:endParaRPr lang="en-US" sz="1500" dirty="0"/>
          </a:p>
        </p:txBody>
      </p:sp>
      <p:sp>
        <p:nvSpPr>
          <p:cNvPr id="31" name="Shape 29"/>
          <p:cNvSpPr/>
          <p:nvPr/>
        </p:nvSpPr>
        <p:spPr>
          <a:xfrm>
            <a:off x="1463040" y="4224528"/>
            <a:ext cx="658368" cy="384048"/>
          </a:xfrm>
          <a:prstGeom prst="rect">
            <a:avLst/>
          </a:prstGeom>
          <a:solidFill>
            <a:srgbClr val="EDF3F3"/>
          </a:solidFill>
          <a:ln w="7620">
            <a:solidFill>
              <a:srgbClr val="EDF3F3"/>
            </a:solidFill>
            <a:prstDash val="solid"/>
          </a:ln>
        </p:spPr>
      </p:sp>
      <p:sp>
        <p:nvSpPr>
          <p:cNvPr id="32" name="Text 30"/>
          <p:cNvSpPr/>
          <p:nvPr/>
        </p:nvSpPr>
        <p:spPr>
          <a:xfrm>
            <a:off x="1463040" y="4224528"/>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S</a:t>
            </a:r>
            <a:endParaRPr lang="en-US" sz="1700" dirty="0"/>
          </a:p>
        </p:txBody>
      </p:sp>
      <p:sp>
        <p:nvSpPr>
          <p:cNvPr id="33" name="Shape 31"/>
          <p:cNvSpPr/>
          <p:nvPr/>
        </p:nvSpPr>
        <p:spPr>
          <a:xfrm>
            <a:off x="2286000" y="4224528"/>
            <a:ext cx="658368" cy="384048"/>
          </a:xfrm>
          <a:prstGeom prst="rect">
            <a:avLst/>
          </a:prstGeom>
          <a:solidFill>
            <a:srgbClr val="F4F6F6"/>
          </a:solidFill>
          <a:ln w="7620">
            <a:solidFill>
              <a:srgbClr val="F4F6F6"/>
            </a:solidFill>
            <a:prstDash val="solid"/>
          </a:ln>
        </p:spPr>
      </p:sp>
      <p:sp>
        <p:nvSpPr>
          <p:cNvPr id="34" name="Text 32"/>
          <p:cNvSpPr/>
          <p:nvPr/>
        </p:nvSpPr>
        <p:spPr>
          <a:xfrm>
            <a:off x="2286000" y="4224528"/>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a:t>
            </a:r>
            <a:endParaRPr lang="en-US" sz="1700" dirty="0"/>
          </a:p>
        </p:txBody>
      </p:sp>
      <p:sp>
        <p:nvSpPr>
          <p:cNvPr id="35" name="Shape 33"/>
          <p:cNvSpPr/>
          <p:nvPr/>
        </p:nvSpPr>
        <p:spPr>
          <a:xfrm>
            <a:off x="3108960" y="4224528"/>
            <a:ext cx="658368" cy="384048"/>
          </a:xfrm>
          <a:prstGeom prst="rect">
            <a:avLst/>
          </a:prstGeom>
          <a:solidFill>
            <a:srgbClr val="EDF3F3"/>
          </a:solidFill>
          <a:ln w="7620">
            <a:solidFill>
              <a:srgbClr val="EDF3F3"/>
            </a:solidFill>
            <a:prstDash val="solid"/>
          </a:ln>
        </p:spPr>
      </p:sp>
      <p:sp>
        <p:nvSpPr>
          <p:cNvPr id="36" name="Text 34"/>
          <p:cNvSpPr/>
          <p:nvPr/>
        </p:nvSpPr>
        <p:spPr>
          <a:xfrm>
            <a:off x="3108960" y="4224528"/>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S</a:t>
            </a:r>
            <a:endParaRPr lang="en-US" sz="1700" dirty="0"/>
          </a:p>
        </p:txBody>
      </p:sp>
      <p:sp>
        <p:nvSpPr>
          <p:cNvPr id="37" name="Shape 35"/>
          <p:cNvSpPr/>
          <p:nvPr/>
        </p:nvSpPr>
        <p:spPr>
          <a:xfrm>
            <a:off x="3931920" y="4224528"/>
            <a:ext cx="658368" cy="384048"/>
          </a:xfrm>
          <a:prstGeom prst="rect">
            <a:avLst/>
          </a:prstGeom>
          <a:solidFill>
            <a:srgbClr val="EDF3F3"/>
          </a:solidFill>
          <a:ln w="7620">
            <a:solidFill>
              <a:srgbClr val="EDF3F3"/>
            </a:solidFill>
            <a:prstDash val="solid"/>
          </a:ln>
        </p:spPr>
      </p:sp>
      <p:sp>
        <p:nvSpPr>
          <p:cNvPr id="38" name="Text 36"/>
          <p:cNvSpPr/>
          <p:nvPr/>
        </p:nvSpPr>
        <p:spPr>
          <a:xfrm>
            <a:off x="3931920" y="4224528"/>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I/R</a:t>
            </a:r>
            <a:endParaRPr lang="en-US" sz="1700" dirty="0"/>
          </a:p>
        </p:txBody>
      </p:sp>
      <p:sp>
        <p:nvSpPr>
          <p:cNvPr id="39" name="Text 37"/>
          <p:cNvSpPr/>
          <p:nvPr/>
        </p:nvSpPr>
        <p:spPr>
          <a:xfrm>
            <a:off x="667512" y="4754880"/>
            <a:ext cx="731520" cy="384048"/>
          </a:xfrm>
          <a:prstGeom prst="rect">
            <a:avLst/>
          </a:prstGeom>
          <a:noFill/>
          <a:ln/>
        </p:spPr>
        <p:txBody>
          <a:bodyPr wrap="square" lIns="0" tIns="0" rIns="0" bIns="0" rtlCol="0" anchor="ctr"/>
          <a:lstStyle/>
          <a:p>
            <a:pPr indent="0" marL="0">
              <a:buNone/>
            </a:pPr>
            <a:r>
              <a:rPr lang="en-US" sz="1500" dirty="0">
                <a:solidFill>
                  <a:srgbClr val="193B3B"/>
                </a:solidFill>
                <a:latin typeface="Arial Unicode MS" pitchFamily="34" charset="0"/>
                <a:ea typeface="Arial Unicode MS" pitchFamily="34" charset="-122"/>
                <a:cs typeface="Arial Unicode MS" pitchFamily="34" charset="-120"/>
              </a:rPr>
              <a:t>사례 4</a:t>
            </a:r>
            <a:endParaRPr lang="en-US" sz="1500" dirty="0"/>
          </a:p>
        </p:txBody>
      </p:sp>
      <p:sp>
        <p:nvSpPr>
          <p:cNvPr id="40" name="Shape 38"/>
          <p:cNvSpPr/>
          <p:nvPr/>
        </p:nvSpPr>
        <p:spPr>
          <a:xfrm>
            <a:off x="1463040" y="4736592"/>
            <a:ext cx="658368" cy="384048"/>
          </a:xfrm>
          <a:prstGeom prst="rect">
            <a:avLst/>
          </a:prstGeom>
          <a:solidFill>
            <a:srgbClr val="F4F6F6"/>
          </a:solidFill>
          <a:ln w="7620">
            <a:solidFill>
              <a:srgbClr val="F4F6F6"/>
            </a:solidFill>
            <a:prstDash val="solid"/>
          </a:ln>
        </p:spPr>
      </p:sp>
      <p:sp>
        <p:nvSpPr>
          <p:cNvPr id="41" name="Text 39"/>
          <p:cNvSpPr/>
          <p:nvPr/>
        </p:nvSpPr>
        <p:spPr>
          <a:xfrm>
            <a:off x="1463040" y="4736592"/>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a:t>
            </a:r>
            <a:endParaRPr lang="en-US" sz="1700" dirty="0"/>
          </a:p>
        </p:txBody>
      </p:sp>
      <p:sp>
        <p:nvSpPr>
          <p:cNvPr id="42" name="Shape 40"/>
          <p:cNvSpPr/>
          <p:nvPr/>
        </p:nvSpPr>
        <p:spPr>
          <a:xfrm>
            <a:off x="2286000" y="4736592"/>
            <a:ext cx="658368" cy="384048"/>
          </a:xfrm>
          <a:prstGeom prst="rect">
            <a:avLst/>
          </a:prstGeom>
          <a:solidFill>
            <a:srgbClr val="EDF3F3"/>
          </a:solidFill>
          <a:ln w="7620">
            <a:solidFill>
              <a:srgbClr val="EDF3F3"/>
            </a:solidFill>
            <a:prstDash val="solid"/>
          </a:ln>
        </p:spPr>
      </p:sp>
      <p:sp>
        <p:nvSpPr>
          <p:cNvPr id="43" name="Text 41"/>
          <p:cNvSpPr/>
          <p:nvPr/>
        </p:nvSpPr>
        <p:spPr>
          <a:xfrm>
            <a:off x="2286000" y="4736592"/>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S</a:t>
            </a:r>
            <a:endParaRPr lang="en-US" sz="1700" dirty="0"/>
          </a:p>
        </p:txBody>
      </p:sp>
      <p:sp>
        <p:nvSpPr>
          <p:cNvPr id="44" name="Shape 42"/>
          <p:cNvSpPr/>
          <p:nvPr/>
        </p:nvSpPr>
        <p:spPr>
          <a:xfrm>
            <a:off x="3108960" y="4736592"/>
            <a:ext cx="658368" cy="384048"/>
          </a:xfrm>
          <a:prstGeom prst="rect">
            <a:avLst/>
          </a:prstGeom>
          <a:solidFill>
            <a:srgbClr val="EDF3F3"/>
          </a:solidFill>
          <a:ln w="7620">
            <a:solidFill>
              <a:srgbClr val="EDF3F3"/>
            </a:solidFill>
            <a:prstDash val="solid"/>
          </a:ln>
        </p:spPr>
      </p:sp>
      <p:sp>
        <p:nvSpPr>
          <p:cNvPr id="45" name="Text 43"/>
          <p:cNvSpPr/>
          <p:nvPr/>
        </p:nvSpPr>
        <p:spPr>
          <a:xfrm>
            <a:off x="3108960" y="4736592"/>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I/R</a:t>
            </a:r>
            <a:endParaRPr lang="en-US" sz="1700" dirty="0"/>
          </a:p>
        </p:txBody>
      </p:sp>
      <p:sp>
        <p:nvSpPr>
          <p:cNvPr id="46" name="Shape 44"/>
          <p:cNvSpPr/>
          <p:nvPr/>
        </p:nvSpPr>
        <p:spPr>
          <a:xfrm>
            <a:off x="3931920" y="4736592"/>
            <a:ext cx="658368" cy="384048"/>
          </a:xfrm>
          <a:prstGeom prst="rect">
            <a:avLst/>
          </a:prstGeom>
          <a:solidFill>
            <a:srgbClr val="EDF3F3"/>
          </a:solidFill>
          <a:ln w="7620">
            <a:solidFill>
              <a:srgbClr val="EDF3F3"/>
            </a:solidFill>
            <a:prstDash val="solid"/>
          </a:ln>
        </p:spPr>
      </p:sp>
      <p:sp>
        <p:nvSpPr>
          <p:cNvPr id="47" name="Text 45"/>
          <p:cNvSpPr/>
          <p:nvPr/>
        </p:nvSpPr>
        <p:spPr>
          <a:xfrm>
            <a:off x="3931920" y="4736592"/>
            <a:ext cx="658368" cy="384048"/>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S</a:t>
            </a:r>
            <a:endParaRPr lang="en-US" sz="1700" dirty="0"/>
          </a:p>
        </p:txBody>
      </p:sp>
      <p:sp>
        <p:nvSpPr>
          <p:cNvPr id="48" name="Shape 46"/>
          <p:cNvSpPr/>
          <p:nvPr/>
        </p:nvSpPr>
        <p:spPr>
          <a:xfrm>
            <a:off x="5074920" y="4059936"/>
            <a:ext cx="594360" cy="0"/>
          </a:xfrm>
          <a:prstGeom prst="line">
            <a:avLst/>
          </a:prstGeom>
          <a:noFill/>
          <a:ln w="19050">
            <a:solidFill>
              <a:srgbClr val="187D80"/>
            </a:solidFill>
            <a:prstDash val="solid"/>
            <a:tailEnd type="triangle"/>
          </a:ln>
        </p:spPr>
      </p:sp>
      <p:sp>
        <p:nvSpPr>
          <p:cNvPr id="49" name="Shape 47"/>
          <p:cNvSpPr/>
          <p:nvPr/>
        </p:nvSpPr>
        <p:spPr>
          <a:xfrm>
            <a:off x="6080760" y="2587752"/>
            <a:ext cx="5349240" cy="1463040"/>
          </a:xfrm>
          <a:prstGeom prst="rect">
            <a:avLst/>
          </a:prstGeom>
          <a:solidFill>
            <a:srgbClr val="EDF3F3"/>
          </a:solidFill>
          <a:ln w="7620">
            <a:solidFill>
              <a:srgbClr val="EDF3F3"/>
            </a:solidFill>
            <a:prstDash val="solid"/>
          </a:ln>
        </p:spPr>
      </p:sp>
      <p:sp>
        <p:nvSpPr>
          <p:cNvPr id="50" name="Text 48"/>
          <p:cNvSpPr/>
          <p:nvPr/>
        </p:nvSpPr>
        <p:spPr>
          <a:xfrm>
            <a:off x="6309360" y="2770632"/>
            <a:ext cx="489204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Dual · 두 종류의 표현</a:t>
            </a:r>
            <a:endParaRPr lang="en-US" sz="2200" dirty="0"/>
          </a:p>
        </p:txBody>
      </p:sp>
      <p:sp>
        <p:nvSpPr>
          <p:cNvPr id="51" name="Text 49"/>
          <p:cNvSpPr/>
          <p:nvPr/>
        </p:nvSpPr>
        <p:spPr>
          <a:xfrm>
            <a:off x="6309360" y="3456432"/>
            <a:ext cx="4892040" cy="42976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사례의 특징과 약물의 특징을</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함께 추정한다</a:t>
            </a:r>
            <a:endParaRPr lang="en-US" sz="1800" dirty="0"/>
          </a:p>
        </p:txBody>
      </p:sp>
      <p:sp>
        <p:nvSpPr>
          <p:cNvPr id="52" name="Shape 50"/>
          <p:cNvSpPr/>
          <p:nvPr/>
        </p:nvSpPr>
        <p:spPr>
          <a:xfrm>
            <a:off x="6080760" y="4261104"/>
            <a:ext cx="5349240" cy="1463040"/>
          </a:xfrm>
          <a:prstGeom prst="rect">
            <a:avLst/>
          </a:prstGeom>
          <a:solidFill>
            <a:srgbClr val="EDF3F3"/>
          </a:solidFill>
          <a:ln w="7620">
            <a:solidFill>
              <a:srgbClr val="EDF3F3"/>
            </a:solidFill>
            <a:prstDash val="solid"/>
          </a:ln>
        </p:spPr>
      </p:sp>
      <p:sp>
        <p:nvSpPr>
          <p:cNvPr id="53" name="Text 51"/>
          <p:cNvSpPr/>
          <p:nvPr/>
        </p:nvSpPr>
        <p:spPr>
          <a:xfrm>
            <a:off x="6309360" y="4443984"/>
            <a:ext cx="489204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Cyclic · 번갈아 학습</a:t>
            </a:r>
            <a:endParaRPr lang="en-US" sz="2200" dirty="0"/>
          </a:p>
        </p:txBody>
      </p:sp>
      <p:sp>
        <p:nvSpPr>
          <p:cNvPr id="54" name="Text 52"/>
          <p:cNvSpPr/>
          <p:nvPr/>
        </p:nvSpPr>
        <p:spPr>
          <a:xfrm>
            <a:off x="6309360" y="5129784"/>
            <a:ext cx="4892040" cy="42976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한쪽 표현을 고정하고 다른 쪽을 갱신</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관측된 반응에 맞추며 반복한다</a:t>
            </a:r>
            <a:endParaRPr lang="en-US" sz="1800" dirty="0"/>
          </a:p>
        </p:txBody>
      </p:sp>
      <p:sp>
        <p:nvSpPr>
          <p:cNvPr id="55" name="Text 53"/>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추천시스템의 사용자–항목 관계에서 출발한 방법을 사례–항생제 반응에 적용</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02  CDLD 소개</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왜 CDLD인가? 새 대상의 표현을 소수 관측으로 추정할 수 있다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05</a:t>
            </a:r>
            <a:endParaRPr lang="en-US" sz="1100" dirty="0"/>
          </a:p>
        </p:txBody>
      </p:sp>
      <p:sp>
        <p:nvSpPr>
          <p:cNvPr id="6" name="Shape 4"/>
          <p:cNvSpPr/>
          <p:nvPr/>
        </p:nvSpPr>
        <p:spPr>
          <a:xfrm>
            <a:off x="640080" y="2194560"/>
            <a:ext cx="3429000" cy="2743200"/>
          </a:xfrm>
          <a:prstGeom prst="rect">
            <a:avLst/>
          </a:prstGeom>
          <a:solidFill>
            <a:srgbClr val="EDF3F3"/>
          </a:solidFill>
          <a:ln w="7620">
            <a:solidFill>
              <a:srgbClr val="EDF3F3"/>
            </a:solidFill>
            <a:prstDash val="solid"/>
          </a:ln>
        </p:spPr>
      </p:sp>
      <p:sp>
        <p:nvSpPr>
          <p:cNvPr id="7" name="Text 5"/>
          <p:cNvSpPr/>
          <p:nvPr/>
        </p:nvSpPr>
        <p:spPr>
          <a:xfrm>
            <a:off x="868680" y="2377440"/>
            <a:ext cx="29718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기존 반응으로 학습</a:t>
            </a:r>
            <a:endParaRPr lang="en-US" sz="2200" dirty="0"/>
          </a:p>
        </p:txBody>
      </p:sp>
      <p:sp>
        <p:nvSpPr>
          <p:cNvPr id="8" name="Text 6"/>
          <p:cNvSpPr/>
          <p:nvPr/>
        </p:nvSpPr>
        <p:spPr>
          <a:xfrm>
            <a:off x="868680" y="3063240"/>
            <a:ext cx="2971800" cy="170992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여러 사례 × 여러 기존약</a:t>
            </a:r>
            <a:endParaRPr lang="en-US" sz="1800" dirty="0"/>
          </a:p>
          <a:p>
            <a:pPr indent="0" marL="0">
              <a:buNone/>
            </a:pP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두 대상의 표현과</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그 관계를 예측하는 모델을 학습</a:t>
            </a:r>
            <a:endParaRPr lang="en-US" sz="1800" dirty="0"/>
          </a:p>
        </p:txBody>
      </p:sp>
      <p:sp>
        <p:nvSpPr>
          <p:cNvPr id="9" name="Shape 7"/>
          <p:cNvSpPr/>
          <p:nvPr/>
        </p:nvSpPr>
        <p:spPr>
          <a:xfrm>
            <a:off x="4389120" y="2194560"/>
            <a:ext cx="3429000" cy="2743200"/>
          </a:xfrm>
          <a:prstGeom prst="rect">
            <a:avLst/>
          </a:prstGeom>
          <a:solidFill>
            <a:srgbClr val="EDF3F3"/>
          </a:solidFill>
          <a:ln w="7620">
            <a:solidFill>
              <a:srgbClr val="EDF3F3"/>
            </a:solidFill>
            <a:prstDash val="solid"/>
          </a:ln>
        </p:spPr>
      </p:sp>
      <p:sp>
        <p:nvSpPr>
          <p:cNvPr id="10" name="Text 8"/>
          <p:cNvSpPr/>
          <p:nvPr/>
        </p:nvSpPr>
        <p:spPr>
          <a:xfrm>
            <a:off x="4617720" y="2377440"/>
            <a:ext cx="29718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새 목표약을 도입</a:t>
            </a:r>
            <a:endParaRPr lang="en-US" sz="2200" dirty="0"/>
          </a:p>
        </p:txBody>
      </p:sp>
      <p:sp>
        <p:nvSpPr>
          <p:cNvPr id="11" name="Text 9"/>
          <p:cNvSpPr/>
          <p:nvPr/>
        </p:nvSpPr>
        <p:spPr>
          <a:xfrm>
            <a:off x="4617720" y="3063240"/>
            <a:ext cx="2971800" cy="170992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기존 모델은 고정</a:t>
            </a:r>
            <a:endParaRPr lang="en-US" sz="1800" dirty="0"/>
          </a:p>
          <a:p>
            <a:pPr indent="0" marL="0">
              <a:buNone/>
            </a:pP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목표약 반응 몇 개를 이용해</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새 약물의 표현을 추정</a:t>
            </a:r>
            <a:endParaRPr lang="en-US" sz="1800" dirty="0"/>
          </a:p>
        </p:txBody>
      </p:sp>
      <p:sp>
        <p:nvSpPr>
          <p:cNvPr id="12" name="Shape 10"/>
          <p:cNvSpPr/>
          <p:nvPr/>
        </p:nvSpPr>
        <p:spPr>
          <a:xfrm>
            <a:off x="8138160" y="2194560"/>
            <a:ext cx="3429000" cy="2743200"/>
          </a:xfrm>
          <a:prstGeom prst="rect">
            <a:avLst/>
          </a:prstGeom>
          <a:solidFill>
            <a:srgbClr val="EDF3F3"/>
          </a:solidFill>
          <a:ln w="7620">
            <a:solidFill>
              <a:srgbClr val="EDF3F3"/>
            </a:solidFill>
            <a:prstDash val="solid"/>
          </a:ln>
        </p:spPr>
      </p:sp>
      <p:sp>
        <p:nvSpPr>
          <p:cNvPr id="13" name="Text 11"/>
          <p:cNvSpPr/>
          <p:nvPr/>
        </p:nvSpPr>
        <p:spPr>
          <a:xfrm>
            <a:off x="8366760" y="2377440"/>
            <a:ext cx="29718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다른 사례에 적용</a:t>
            </a:r>
            <a:endParaRPr lang="en-US" sz="2200" dirty="0"/>
          </a:p>
        </p:txBody>
      </p:sp>
      <p:sp>
        <p:nvSpPr>
          <p:cNvPr id="14" name="Text 12"/>
          <p:cNvSpPr/>
          <p:nvPr/>
        </p:nvSpPr>
        <p:spPr>
          <a:xfrm>
            <a:off x="8366760" y="3063240"/>
            <a:ext cx="2971800" cy="170992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추정한 목표약 표현을 공유</a:t>
            </a:r>
            <a:endParaRPr lang="en-US" sz="1800" dirty="0"/>
          </a:p>
          <a:p>
            <a:pPr indent="0" marL="0">
              <a:buNone/>
            </a:pP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다른 사례의 표현과 결합해</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목표약 반응을 예측</a:t>
            </a:r>
            <a:endParaRPr lang="en-US" sz="1800" dirty="0"/>
          </a:p>
        </p:txBody>
      </p:sp>
      <p:sp>
        <p:nvSpPr>
          <p:cNvPr id="15" name="Shape 13"/>
          <p:cNvSpPr/>
          <p:nvPr/>
        </p:nvSpPr>
        <p:spPr>
          <a:xfrm>
            <a:off x="4078224" y="3529584"/>
            <a:ext cx="274320" cy="0"/>
          </a:xfrm>
          <a:prstGeom prst="line">
            <a:avLst/>
          </a:prstGeom>
          <a:noFill/>
          <a:ln w="19050">
            <a:solidFill>
              <a:srgbClr val="187D80"/>
            </a:solidFill>
            <a:prstDash val="solid"/>
            <a:tailEnd type="triangle"/>
          </a:ln>
        </p:spPr>
      </p:sp>
      <p:sp>
        <p:nvSpPr>
          <p:cNvPr id="16" name="Shape 14"/>
          <p:cNvSpPr/>
          <p:nvPr/>
        </p:nvSpPr>
        <p:spPr>
          <a:xfrm>
            <a:off x="7827264" y="3529584"/>
            <a:ext cx="274320" cy="0"/>
          </a:xfrm>
          <a:prstGeom prst="line">
            <a:avLst/>
          </a:prstGeom>
          <a:noFill/>
          <a:ln w="19050">
            <a:solidFill>
              <a:srgbClr val="187D80"/>
            </a:solidFill>
            <a:prstDash val="solid"/>
            <a:tailEnd type="triangle"/>
          </a:ln>
        </p:spPr>
      </p:sp>
      <p:sp>
        <p:nvSpPr>
          <p:cNvPr id="17" name="Text 15"/>
          <p:cNvSpPr/>
          <p:nvPr/>
        </p:nvSpPr>
        <p:spPr>
          <a:xfrm>
            <a:off x="731520" y="5330952"/>
            <a:ext cx="10789920" cy="566928"/>
          </a:xfrm>
          <a:prstGeom prst="rect">
            <a:avLst/>
          </a:prstGeom>
          <a:noFill/>
          <a:ln/>
        </p:spPr>
        <p:txBody>
          <a:bodyPr wrap="square" lIns="0" tIns="0" rIns="0" bIns="0" rtlCol="0" anchor="ctr"/>
          <a:lstStyle/>
          <a:p>
            <a:pPr indent="0" marL="0">
              <a:buNone/>
            </a:pPr>
            <a:r>
              <a:rPr lang="en-US" sz="2300" b="1" dirty="0">
                <a:solidFill>
                  <a:srgbClr val="187D80"/>
                </a:solidFill>
                <a:latin typeface="Arial Unicode MS" pitchFamily="34" charset="0"/>
                <a:ea typeface="Arial Unicode MS" pitchFamily="34" charset="-122"/>
                <a:cs typeface="Arial Unicode MS" pitchFamily="34" charset="-120"/>
              </a:rPr>
              <a:t>이번 연구의 질문: 이 적응 방식이 적은 관측에서도 예측 이득을 제공하는가?</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02  CDLD 이해</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CDLD는 사례와 약물을 각각 수치 벡터로 표현한다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06</a:t>
            </a:r>
            <a:endParaRPr lang="en-US" sz="1100" dirty="0"/>
          </a:p>
        </p:txBody>
      </p:sp>
      <p:sp>
        <p:nvSpPr>
          <p:cNvPr id="6" name="Shape 4"/>
          <p:cNvSpPr/>
          <p:nvPr/>
        </p:nvSpPr>
        <p:spPr>
          <a:xfrm>
            <a:off x="640080" y="2194560"/>
            <a:ext cx="3657600" cy="2194560"/>
          </a:xfrm>
          <a:prstGeom prst="rect">
            <a:avLst/>
          </a:prstGeom>
          <a:solidFill>
            <a:srgbClr val="EDF3F3"/>
          </a:solidFill>
          <a:ln w="7620">
            <a:solidFill>
              <a:srgbClr val="EDF3F3"/>
            </a:solidFill>
            <a:prstDash val="solid"/>
          </a:ln>
        </p:spPr>
      </p:sp>
      <p:sp>
        <p:nvSpPr>
          <p:cNvPr id="7" name="Text 5"/>
          <p:cNvSpPr/>
          <p:nvPr/>
        </p:nvSpPr>
        <p:spPr>
          <a:xfrm>
            <a:off x="868680" y="2377440"/>
            <a:ext cx="32004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사례 latent</a:t>
            </a:r>
            <a:endParaRPr lang="en-US" sz="2200" dirty="0"/>
          </a:p>
        </p:txBody>
      </p:sp>
      <p:sp>
        <p:nvSpPr>
          <p:cNvPr id="8" name="Text 6"/>
          <p:cNvSpPr/>
          <p:nvPr/>
        </p:nvSpPr>
        <p:spPr>
          <a:xfrm>
            <a:off x="868680" y="3063240"/>
            <a:ext cx="3200400" cy="116128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이 사례의 여러 항생제 반응에서</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추정한 128개 수치</a:t>
            </a:r>
            <a:endParaRPr lang="en-US" sz="1800" dirty="0"/>
          </a:p>
        </p:txBody>
      </p:sp>
      <p:sp>
        <p:nvSpPr>
          <p:cNvPr id="9" name="Shape 7"/>
          <p:cNvSpPr/>
          <p:nvPr/>
        </p:nvSpPr>
        <p:spPr>
          <a:xfrm>
            <a:off x="7909560" y="2194560"/>
            <a:ext cx="3657600" cy="2194560"/>
          </a:xfrm>
          <a:prstGeom prst="rect">
            <a:avLst/>
          </a:prstGeom>
          <a:solidFill>
            <a:srgbClr val="EDF3F3"/>
          </a:solidFill>
          <a:ln w="7620">
            <a:solidFill>
              <a:srgbClr val="EDF3F3"/>
            </a:solidFill>
            <a:prstDash val="solid"/>
          </a:ln>
        </p:spPr>
      </p:sp>
      <p:sp>
        <p:nvSpPr>
          <p:cNvPr id="10" name="Text 8"/>
          <p:cNvSpPr/>
          <p:nvPr/>
        </p:nvSpPr>
        <p:spPr>
          <a:xfrm>
            <a:off x="8138160" y="2377440"/>
            <a:ext cx="32004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항생제 latent</a:t>
            </a:r>
            <a:endParaRPr lang="en-US" sz="2200" dirty="0"/>
          </a:p>
        </p:txBody>
      </p:sp>
      <p:sp>
        <p:nvSpPr>
          <p:cNvPr id="11" name="Text 9"/>
          <p:cNvSpPr/>
          <p:nvPr/>
        </p:nvSpPr>
        <p:spPr>
          <a:xfrm>
            <a:off x="8138160" y="3063240"/>
            <a:ext cx="3200400" cy="116128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이 약물의 여러 사례 반응에서</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추정한 128개 수치</a:t>
            </a:r>
            <a:endParaRPr lang="en-US" sz="1800" dirty="0"/>
          </a:p>
        </p:txBody>
      </p:sp>
      <p:sp>
        <p:nvSpPr>
          <p:cNvPr id="12" name="Shape 10"/>
          <p:cNvSpPr/>
          <p:nvPr/>
        </p:nvSpPr>
        <p:spPr>
          <a:xfrm>
            <a:off x="4709160" y="2788920"/>
            <a:ext cx="2788920" cy="960120"/>
          </a:xfrm>
          <a:prstGeom prst="rect">
            <a:avLst/>
          </a:prstGeom>
          <a:solidFill>
            <a:srgbClr val="187D80"/>
          </a:solidFill>
          <a:ln w="7620">
            <a:solidFill>
              <a:srgbClr val="187D80"/>
            </a:solidFill>
            <a:prstDash val="solid"/>
          </a:ln>
        </p:spPr>
      </p:sp>
      <p:sp>
        <p:nvSpPr>
          <p:cNvPr id="13" name="Text 11"/>
          <p:cNvSpPr/>
          <p:nvPr/>
        </p:nvSpPr>
        <p:spPr>
          <a:xfrm>
            <a:off x="4709160" y="2788920"/>
            <a:ext cx="2788920"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Unicode MS" pitchFamily="34" charset="0"/>
                <a:ea typeface="Arial Unicode MS" pitchFamily="34" charset="-122"/>
                <a:cs typeface="Arial Unicode MS" pitchFamily="34" charset="-120"/>
              </a:rPr>
              <a:t>Predictor</a:t>
            </a:r>
            <a:endParaRPr lang="en-US" sz="2400" dirty="0"/>
          </a:p>
        </p:txBody>
      </p:sp>
      <p:sp>
        <p:nvSpPr>
          <p:cNvPr id="14" name="Shape 12"/>
          <p:cNvSpPr/>
          <p:nvPr/>
        </p:nvSpPr>
        <p:spPr>
          <a:xfrm>
            <a:off x="4297680" y="3273552"/>
            <a:ext cx="411480" cy="0"/>
          </a:xfrm>
          <a:prstGeom prst="line">
            <a:avLst/>
          </a:prstGeom>
          <a:noFill/>
          <a:ln w="19050">
            <a:solidFill>
              <a:srgbClr val="187D80"/>
            </a:solidFill>
            <a:prstDash val="solid"/>
            <a:tailEnd type="triangle"/>
          </a:ln>
        </p:spPr>
      </p:sp>
      <p:sp>
        <p:nvSpPr>
          <p:cNvPr id="15" name="Shape 13"/>
          <p:cNvSpPr/>
          <p:nvPr/>
        </p:nvSpPr>
        <p:spPr>
          <a:xfrm>
            <a:off x="7909560" y="3273552"/>
            <a:ext cx="-411480" cy="0"/>
          </a:xfrm>
          <a:prstGeom prst="line">
            <a:avLst/>
          </a:prstGeom>
          <a:noFill/>
          <a:ln w="19050">
            <a:solidFill>
              <a:srgbClr val="187D80"/>
            </a:solidFill>
            <a:prstDash val="solid"/>
            <a:tailEnd type="triangle"/>
          </a:ln>
        </p:spPr>
      </p:sp>
      <p:sp>
        <p:nvSpPr>
          <p:cNvPr id="16" name="Shape 14"/>
          <p:cNvSpPr/>
          <p:nvPr/>
        </p:nvSpPr>
        <p:spPr>
          <a:xfrm>
            <a:off x="6108192" y="3749040"/>
            <a:ext cx="0" cy="640080"/>
          </a:xfrm>
          <a:prstGeom prst="line">
            <a:avLst/>
          </a:prstGeom>
          <a:noFill/>
          <a:ln w="19050">
            <a:solidFill>
              <a:srgbClr val="187D80"/>
            </a:solidFill>
            <a:prstDash val="solid"/>
            <a:tailEnd type="triangle"/>
          </a:ln>
        </p:spPr>
      </p:sp>
      <p:sp>
        <p:nvSpPr>
          <p:cNvPr id="17" name="Text 15"/>
          <p:cNvSpPr/>
          <p:nvPr/>
        </p:nvSpPr>
        <p:spPr>
          <a:xfrm>
            <a:off x="3200400" y="4754880"/>
            <a:ext cx="5852160" cy="548640"/>
          </a:xfrm>
          <a:prstGeom prst="rect">
            <a:avLst/>
          </a:prstGeom>
          <a:noFill/>
          <a:ln/>
        </p:spPr>
        <p:txBody>
          <a:bodyPr wrap="square" lIns="0" tIns="0" rIns="0" bIns="0" rtlCol="0" anchor="ctr"/>
          <a:lstStyle/>
          <a:p>
            <a:pPr algn="ctr" indent="0" marL="0">
              <a:buNone/>
            </a:pPr>
            <a:r>
              <a:rPr lang="en-US" sz="2600" b="1" dirty="0">
                <a:solidFill>
                  <a:srgbClr val="193B3B"/>
                </a:solidFill>
                <a:latin typeface="Arial Unicode MS" pitchFamily="34" charset="0"/>
                <a:ea typeface="Arial Unicode MS" pitchFamily="34" charset="-122"/>
                <a:cs typeface="Arial Unicode MS" pitchFamily="34" charset="-120"/>
              </a:rPr>
              <a:t>목표약에 감수성일 예측 확률</a:t>
            </a:r>
            <a:endParaRPr lang="en-US" sz="2600" dirty="0"/>
          </a:p>
        </p:txBody>
      </p:sp>
      <p:sp>
        <p:nvSpPr>
          <p:cNvPr id="18" name="Text 16"/>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latent = 반응 관계에서 학습한 수치 표현. 사례와 약물의 반응 특성을 예측에 사용하는 표현</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02  CDLD 이해</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사전학습: 두 표현을 번갈아 갱신하고 예측기를 학습한다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07</a:t>
            </a:r>
            <a:endParaRPr lang="en-US" sz="1100" dirty="0"/>
          </a:p>
        </p:txBody>
      </p:sp>
      <p:sp>
        <p:nvSpPr>
          <p:cNvPr id="6" name="Shape 4"/>
          <p:cNvSpPr/>
          <p:nvPr/>
        </p:nvSpPr>
        <p:spPr>
          <a:xfrm>
            <a:off x="640080" y="2240280"/>
            <a:ext cx="3474720" cy="2103120"/>
          </a:xfrm>
          <a:prstGeom prst="rect">
            <a:avLst/>
          </a:prstGeom>
          <a:solidFill>
            <a:srgbClr val="EDF3F3"/>
          </a:solidFill>
          <a:ln w="7620">
            <a:solidFill>
              <a:srgbClr val="EDF3F3"/>
            </a:solidFill>
            <a:prstDash val="solid"/>
          </a:ln>
        </p:spPr>
      </p:sp>
      <p:sp>
        <p:nvSpPr>
          <p:cNvPr id="7" name="Text 5"/>
          <p:cNvSpPr/>
          <p:nvPr/>
        </p:nvSpPr>
        <p:spPr>
          <a:xfrm>
            <a:off x="868680" y="2423160"/>
            <a:ext cx="301752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1  사례 표현 갱신</a:t>
            </a:r>
            <a:endParaRPr lang="en-US" sz="2200" dirty="0"/>
          </a:p>
        </p:txBody>
      </p:sp>
      <p:sp>
        <p:nvSpPr>
          <p:cNvPr id="8" name="Text 6"/>
          <p:cNvSpPr/>
          <p:nvPr/>
        </p:nvSpPr>
        <p:spPr>
          <a:xfrm>
            <a:off x="868680" y="3108960"/>
            <a:ext cx="3017520" cy="106984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기존약 표현은 고정</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사례 latent를 갱신</a:t>
            </a:r>
            <a:endParaRPr lang="en-US" sz="1800" dirty="0"/>
          </a:p>
        </p:txBody>
      </p:sp>
      <p:sp>
        <p:nvSpPr>
          <p:cNvPr id="9" name="Shape 7"/>
          <p:cNvSpPr/>
          <p:nvPr/>
        </p:nvSpPr>
        <p:spPr>
          <a:xfrm>
            <a:off x="4407408" y="2240280"/>
            <a:ext cx="3474720" cy="2103120"/>
          </a:xfrm>
          <a:prstGeom prst="rect">
            <a:avLst/>
          </a:prstGeom>
          <a:solidFill>
            <a:srgbClr val="EDF3F3"/>
          </a:solidFill>
          <a:ln w="7620">
            <a:solidFill>
              <a:srgbClr val="EDF3F3"/>
            </a:solidFill>
            <a:prstDash val="solid"/>
          </a:ln>
        </p:spPr>
      </p:sp>
      <p:sp>
        <p:nvSpPr>
          <p:cNvPr id="10" name="Text 8"/>
          <p:cNvSpPr/>
          <p:nvPr/>
        </p:nvSpPr>
        <p:spPr>
          <a:xfrm>
            <a:off x="4636008" y="2423160"/>
            <a:ext cx="301752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2  기존약 표현 갱신</a:t>
            </a:r>
            <a:endParaRPr lang="en-US" sz="2200" dirty="0"/>
          </a:p>
        </p:txBody>
      </p:sp>
      <p:sp>
        <p:nvSpPr>
          <p:cNvPr id="11" name="Text 9"/>
          <p:cNvSpPr/>
          <p:nvPr/>
        </p:nvSpPr>
        <p:spPr>
          <a:xfrm>
            <a:off x="4636008" y="3108960"/>
            <a:ext cx="3017520" cy="106984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사례 표현은 고정</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항생제 latent를 갱신</a:t>
            </a:r>
            <a:endParaRPr lang="en-US" sz="1800" dirty="0"/>
          </a:p>
        </p:txBody>
      </p:sp>
      <p:sp>
        <p:nvSpPr>
          <p:cNvPr id="12" name="Shape 10"/>
          <p:cNvSpPr/>
          <p:nvPr/>
        </p:nvSpPr>
        <p:spPr>
          <a:xfrm>
            <a:off x="8174736" y="2240280"/>
            <a:ext cx="3383280" cy="2103120"/>
          </a:xfrm>
          <a:prstGeom prst="rect">
            <a:avLst/>
          </a:prstGeom>
          <a:solidFill>
            <a:srgbClr val="EDF3F3"/>
          </a:solidFill>
          <a:ln w="7620">
            <a:solidFill>
              <a:srgbClr val="EDF3F3"/>
            </a:solidFill>
            <a:prstDash val="solid"/>
          </a:ln>
        </p:spPr>
      </p:sp>
      <p:sp>
        <p:nvSpPr>
          <p:cNvPr id="13" name="Text 11"/>
          <p:cNvSpPr/>
          <p:nvPr/>
        </p:nvSpPr>
        <p:spPr>
          <a:xfrm>
            <a:off x="8403336" y="2423160"/>
            <a:ext cx="292608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3  Predictor 학습</a:t>
            </a:r>
            <a:endParaRPr lang="en-US" sz="2200" dirty="0"/>
          </a:p>
        </p:txBody>
      </p:sp>
      <p:sp>
        <p:nvSpPr>
          <p:cNvPr id="14" name="Text 12"/>
          <p:cNvSpPr/>
          <p:nvPr/>
        </p:nvSpPr>
        <p:spPr>
          <a:xfrm>
            <a:off x="8403336" y="3108960"/>
            <a:ext cx="2926080" cy="106984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발견한 두 latent를 고정</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감수성 확률을 예측</a:t>
            </a:r>
            <a:endParaRPr lang="en-US" sz="1800" dirty="0"/>
          </a:p>
        </p:txBody>
      </p:sp>
      <p:sp>
        <p:nvSpPr>
          <p:cNvPr id="15" name="Shape 13"/>
          <p:cNvSpPr/>
          <p:nvPr/>
        </p:nvSpPr>
        <p:spPr>
          <a:xfrm>
            <a:off x="4114800" y="3246120"/>
            <a:ext cx="274320" cy="0"/>
          </a:xfrm>
          <a:prstGeom prst="line">
            <a:avLst/>
          </a:prstGeom>
          <a:noFill/>
          <a:ln w="19050">
            <a:solidFill>
              <a:srgbClr val="187D80"/>
            </a:solidFill>
            <a:prstDash val="solid"/>
            <a:tailEnd type="triangle"/>
          </a:ln>
        </p:spPr>
      </p:sp>
      <p:sp>
        <p:nvSpPr>
          <p:cNvPr id="16" name="Shape 14"/>
          <p:cNvSpPr/>
          <p:nvPr/>
        </p:nvSpPr>
        <p:spPr>
          <a:xfrm>
            <a:off x="7900416" y="3246120"/>
            <a:ext cx="256032" cy="0"/>
          </a:xfrm>
          <a:prstGeom prst="line">
            <a:avLst/>
          </a:prstGeom>
          <a:noFill/>
          <a:ln w="19050">
            <a:solidFill>
              <a:srgbClr val="187D80"/>
            </a:solidFill>
            <a:prstDash val="solid"/>
            <a:tailEnd type="triangle"/>
          </a:ln>
        </p:spPr>
      </p:sp>
      <p:sp>
        <p:nvSpPr>
          <p:cNvPr id="17" name="Text 15"/>
          <p:cNvSpPr/>
          <p:nvPr/>
        </p:nvSpPr>
        <p:spPr>
          <a:xfrm>
            <a:off x="1188720" y="4599432"/>
            <a:ext cx="6126480" cy="457200"/>
          </a:xfrm>
          <a:prstGeom prst="rect">
            <a:avLst/>
          </a:prstGeom>
          <a:noFill/>
          <a:ln/>
        </p:spPr>
        <p:txBody>
          <a:bodyPr wrap="square" lIns="0" tIns="0" rIns="0" bIns="0" rtlCol="0" anchor="ctr"/>
          <a:lstStyle/>
          <a:p>
            <a:pPr indent="0" marL="0">
              <a:buNone/>
            </a:pPr>
            <a:r>
              <a:rPr lang="en-US" sz="2400" b="1" dirty="0">
                <a:solidFill>
                  <a:srgbClr val="187D80"/>
                </a:solidFill>
                <a:latin typeface="Arial Unicode MS" pitchFamily="34" charset="0"/>
                <a:ea typeface="Arial Unicode MS" pitchFamily="34" charset="-122"/>
                <a:cs typeface="Arial Unicode MS" pitchFamily="34" charset="-120"/>
              </a:rPr>
              <a:t>Finder: 1 ↔ 2를 순환</a:t>
            </a:r>
            <a:endParaRPr lang="en-US" sz="2400" dirty="0"/>
          </a:p>
        </p:txBody>
      </p:sp>
      <p:sp>
        <p:nvSpPr>
          <p:cNvPr id="18" name="Text 16"/>
          <p:cNvSpPr/>
          <p:nvPr/>
        </p:nvSpPr>
        <p:spPr>
          <a:xfrm>
            <a:off x="731520" y="5358384"/>
            <a:ext cx="10515600" cy="457200"/>
          </a:xfrm>
          <a:prstGeom prst="rect">
            <a:avLst/>
          </a:prstGeom>
          <a:noFill/>
          <a:ln/>
        </p:spPr>
        <p:txBody>
          <a:bodyPr wrap="square" lIns="0" tIns="0" rIns="0" bIns="0" rtlCol="0" anchor="ctr"/>
          <a:lstStyle/>
          <a:p>
            <a:pPr indent="0" marL="0">
              <a:buNone/>
            </a:pPr>
            <a:r>
              <a:rPr lang="en-US" sz="2100" dirty="0">
                <a:solidFill>
                  <a:srgbClr val="193B3B"/>
                </a:solidFill>
                <a:latin typeface="Arial Unicode MS" pitchFamily="34" charset="0"/>
                <a:ea typeface="Arial Unicode MS" pitchFamily="34" charset="-122"/>
                <a:cs typeface="Arial Unicode MS" pitchFamily="34" charset="-120"/>
              </a:rPr>
              <a:t>목표약·개발약은 사전학습에서 제외</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02  CDLD 이해</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적응: 기존 모델을 고정하고 새 엔티티의 latent를 찾는다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08</a:t>
            </a:r>
            <a:endParaRPr lang="en-US" sz="1100" dirty="0"/>
          </a:p>
        </p:txBody>
      </p:sp>
      <p:sp>
        <p:nvSpPr>
          <p:cNvPr id="6" name="Shape 4"/>
          <p:cNvSpPr/>
          <p:nvPr/>
        </p:nvSpPr>
        <p:spPr>
          <a:xfrm>
            <a:off x="640080" y="2240280"/>
            <a:ext cx="3474720" cy="2377440"/>
          </a:xfrm>
          <a:prstGeom prst="rect">
            <a:avLst/>
          </a:prstGeom>
          <a:solidFill>
            <a:srgbClr val="EDF3F3"/>
          </a:solidFill>
          <a:ln w="7620">
            <a:solidFill>
              <a:srgbClr val="EDF3F3"/>
            </a:solidFill>
            <a:prstDash val="solid"/>
          </a:ln>
        </p:spPr>
      </p:sp>
      <p:sp>
        <p:nvSpPr>
          <p:cNvPr id="7" name="Text 5"/>
          <p:cNvSpPr/>
          <p:nvPr/>
        </p:nvSpPr>
        <p:spPr>
          <a:xfrm>
            <a:off x="868680" y="2423160"/>
            <a:ext cx="301752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사례별로</a:t>
            </a:r>
            <a:endParaRPr lang="en-US" sz="2200" dirty="0"/>
          </a:p>
        </p:txBody>
      </p:sp>
      <p:sp>
        <p:nvSpPr>
          <p:cNvPr id="8" name="Text 6"/>
          <p:cNvSpPr/>
          <p:nvPr/>
        </p:nvSpPr>
        <p:spPr>
          <a:xfrm>
            <a:off x="868680" y="3108960"/>
            <a:ext cx="3017520" cy="134416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기존약 AST 4개</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 각 사례 latent</a:t>
            </a:r>
            <a:endParaRPr lang="en-US" sz="1800" dirty="0"/>
          </a:p>
        </p:txBody>
      </p:sp>
      <p:sp>
        <p:nvSpPr>
          <p:cNvPr id="9" name="Shape 7"/>
          <p:cNvSpPr/>
          <p:nvPr/>
        </p:nvSpPr>
        <p:spPr>
          <a:xfrm>
            <a:off x="4114800" y="3383280"/>
            <a:ext cx="274320" cy="0"/>
          </a:xfrm>
          <a:prstGeom prst="line">
            <a:avLst/>
          </a:prstGeom>
          <a:noFill/>
          <a:ln w="19050">
            <a:solidFill>
              <a:srgbClr val="187D80"/>
            </a:solidFill>
            <a:prstDash val="solid"/>
            <a:tailEnd type="triangle"/>
          </a:ln>
        </p:spPr>
      </p:sp>
      <p:sp>
        <p:nvSpPr>
          <p:cNvPr id="10" name="Shape 8"/>
          <p:cNvSpPr/>
          <p:nvPr/>
        </p:nvSpPr>
        <p:spPr>
          <a:xfrm>
            <a:off x="4434840" y="2240280"/>
            <a:ext cx="3474720" cy="2377440"/>
          </a:xfrm>
          <a:prstGeom prst="rect">
            <a:avLst/>
          </a:prstGeom>
          <a:solidFill>
            <a:srgbClr val="EDF3F3"/>
          </a:solidFill>
          <a:ln w="7620">
            <a:solidFill>
              <a:srgbClr val="EDF3F3"/>
            </a:solidFill>
            <a:prstDash val="solid"/>
          </a:ln>
        </p:spPr>
      </p:sp>
      <p:sp>
        <p:nvSpPr>
          <p:cNvPr id="11" name="Text 9"/>
          <p:cNvSpPr/>
          <p:nvPr/>
        </p:nvSpPr>
        <p:spPr>
          <a:xfrm>
            <a:off x="4663440" y="2423160"/>
            <a:ext cx="301752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목표약별로</a:t>
            </a:r>
            <a:endParaRPr lang="en-US" sz="2200" dirty="0"/>
          </a:p>
        </p:txBody>
      </p:sp>
      <p:sp>
        <p:nvSpPr>
          <p:cNvPr id="12" name="Text 10"/>
          <p:cNvSpPr/>
          <p:nvPr/>
        </p:nvSpPr>
        <p:spPr>
          <a:xfrm>
            <a:off x="4663440" y="3108960"/>
            <a:ext cx="3017520" cy="134416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support 정답</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 목표약 latent 하나</a:t>
            </a:r>
            <a:endParaRPr lang="en-US" sz="1800" dirty="0"/>
          </a:p>
        </p:txBody>
      </p:sp>
      <p:sp>
        <p:nvSpPr>
          <p:cNvPr id="13" name="Shape 11"/>
          <p:cNvSpPr/>
          <p:nvPr/>
        </p:nvSpPr>
        <p:spPr>
          <a:xfrm>
            <a:off x="7909560" y="3383280"/>
            <a:ext cx="274320" cy="0"/>
          </a:xfrm>
          <a:prstGeom prst="line">
            <a:avLst/>
          </a:prstGeom>
          <a:noFill/>
          <a:ln w="19050">
            <a:solidFill>
              <a:srgbClr val="187D80"/>
            </a:solidFill>
            <a:prstDash val="solid"/>
            <a:tailEnd type="triangle"/>
          </a:ln>
        </p:spPr>
      </p:sp>
      <p:sp>
        <p:nvSpPr>
          <p:cNvPr id="14" name="Shape 12"/>
          <p:cNvSpPr/>
          <p:nvPr/>
        </p:nvSpPr>
        <p:spPr>
          <a:xfrm>
            <a:off x="8229600" y="2240280"/>
            <a:ext cx="3474720" cy="2377440"/>
          </a:xfrm>
          <a:prstGeom prst="rect">
            <a:avLst/>
          </a:prstGeom>
          <a:solidFill>
            <a:srgbClr val="EDF3F3"/>
          </a:solidFill>
          <a:ln w="7620">
            <a:solidFill>
              <a:srgbClr val="EDF3F3"/>
            </a:solidFill>
            <a:prstDash val="solid"/>
          </a:ln>
        </p:spPr>
      </p:sp>
      <p:sp>
        <p:nvSpPr>
          <p:cNvPr id="15" name="Text 13"/>
          <p:cNvSpPr/>
          <p:nvPr/>
        </p:nvSpPr>
        <p:spPr>
          <a:xfrm>
            <a:off x="8458200" y="2423160"/>
            <a:ext cx="301752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query 예측</a:t>
            </a:r>
            <a:endParaRPr lang="en-US" sz="2200" dirty="0"/>
          </a:p>
        </p:txBody>
      </p:sp>
      <p:sp>
        <p:nvSpPr>
          <p:cNvPr id="16" name="Text 14"/>
          <p:cNvSpPr/>
          <p:nvPr/>
        </p:nvSpPr>
        <p:spPr>
          <a:xfrm>
            <a:off x="8458200" y="3108960"/>
            <a:ext cx="3017520" cy="134416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사례 latent + 목표약 latent</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 고정 Predictor</a:t>
            </a:r>
            <a:endParaRPr lang="en-US" sz="1800" dirty="0"/>
          </a:p>
        </p:txBody>
      </p:sp>
      <p:sp>
        <p:nvSpPr>
          <p:cNvPr id="17" name="Text 15"/>
          <p:cNvSpPr/>
          <p:nvPr/>
        </p:nvSpPr>
        <p:spPr>
          <a:xfrm>
            <a:off x="1097280" y="5029200"/>
            <a:ext cx="10058400" cy="594360"/>
          </a:xfrm>
          <a:prstGeom prst="rect">
            <a:avLst/>
          </a:prstGeom>
          <a:noFill/>
          <a:ln/>
        </p:spPr>
        <p:txBody>
          <a:bodyPr wrap="square" lIns="0" tIns="0" rIns="0" bIns="0" rtlCol="0" anchor="ctr"/>
          <a:lstStyle/>
          <a:p>
            <a:pPr algn="ctr" indent="0" marL="0">
              <a:buNone/>
            </a:pPr>
            <a:r>
              <a:rPr lang="en-US" sz="2900" b="1" dirty="0">
                <a:solidFill>
                  <a:srgbClr val="187D80"/>
                </a:solidFill>
                <a:latin typeface="Arial Unicode MS" pitchFamily="34" charset="0"/>
                <a:ea typeface="Arial Unicode MS" pitchFamily="34" charset="-122"/>
                <a:cs typeface="Arial Unicode MS" pitchFamily="34" charset="-120"/>
              </a:rPr>
              <a:t>support 10 → 20 → 30 → 40 → 50</a:t>
            </a:r>
            <a:endParaRPr lang="en-US" sz="2900" dirty="0"/>
          </a:p>
        </p:txBody>
      </p:sp>
      <p:sp>
        <p:nvSpPr>
          <p:cNvPr id="18" name="Text 16"/>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목표약 latent는 조합·seed·반복·support 크기가 같은 조건 안에서 공유</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03  실험 설계</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환자를 분리하고, 다른 자료에서도 같은 모델을 평가했다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09</a:t>
            </a:r>
            <a:endParaRPr lang="en-US" sz="1100" dirty="0"/>
          </a:p>
        </p:txBody>
      </p:sp>
      <p:sp>
        <p:nvSpPr>
          <p:cNvPr id="6" name="Shape 4"/>
          <p:cNvSpPr/>
          <p:nvPr/>
        </p:nvSpPr>
        <p:spPr>
          <a:xfrm>
            <a:off x="685800" y="2331720"/>
            <a:ext cx="6254496" cy="1005840"/>
          </a:xfrm>
          <a:prstGeom prst="rect">
            <a:avLst/>
          </a:prstGeom>
          <a:solidFill>
            <a:srgbClr val="187D80"/>
          </a:solidFill>
          <a:ln w="7620">
            <a:solidFill>
              <a:srgbClr val="187D80"/>
            </a:solidFill>
            <a:prstDash val="solid"/>
          </a:ln>
        </p:spPr>
      </p:sp>
      <p:sp>
        <p:nvSpPr>
          <p:cNvPr id="7" name="Text 5"/>
          <p:cNvSpPr/>
          <p:nvPr/>
        </p:nvSpPr>
        <p:spPr>
          <a:xfrm>
            <a:off x="758952" y="2423160"/>
            <a:ext cx="6108192"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Unicode MS" pitchFamily="34" charset="0"/>
                <a:ea typeface="Arial Unicode MS" pitchFamily="34" charset="-122"/>
                <a:cs typeface="Arial Unicode MS" pitchFamily="34" charset="-120"/>
              </a:rPr>
              <a:t>사전학습 60%</a:t>
            </a:r>
            <a:endParaRPr lang="en-US" sz="2400" dirty="0"/>
          </a:p>
        </p:txBody>
      </p:sp>
      <p:sp>
        <p:nvSpPr>
          <p:cNvPr id="8" name="Shape 6"/>
          <p:cNvSpPr/>
          <p:nvPr/>
        </p:nvSpPr>
        <p:spPr>
          <a:xfrm>
            <a:off x="6995160" y="2331720"/>
            <a:ext cx="1522476" cy="1005840"/>
          </a:xfrm>
          <a:prstGeom prst="rect">
            <a:avLst/>
          </a:prstGeom>
          <a:solidFill>
            <a:srgbClr val="4F8D8C"/>
          </a:solidFill>
          <a:ln w="7620">
            <a:solidFill>
              <a:srgbClr val="4F8D8C"/>
            </a:solidFill>
            <a:prstDash val="solid"/>
          </a:ln>
        </p:spPr>
      </p:sp>
      <p:sp>
        <p:nvSpPr>
          <p:cNvPr id="9" name="Text 7"/>
          <p:cNvSpPr/>
          <p:nvPr/>
        </p:nvSpPr>
        <p:spPr>
          <a:xfrm>
            <a:off x="7068312" y="2423160"/>
            <a:ext cx="1376172"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Unicode MS" pitchFamily="34" charset="0"/>
                <a:ea typeface="Arial Unicode MS" pitchFamily="34" charset="-122"/>
                <a:cs typeface="Arial Unicode MS" pitchFamily="34" charset="-120"/>
              </a:rPr>
              <a:t>개발 15%</a:t>
            </a:r>
            <a:endParaRPr lang="en-US" sz="1700" dirty="0"/>
          </a:p>
        </p:txBody>
      </p:sp>
      <p:sp>
        <p:nvSpPr>
          <p:cNvPr id="10" name="Shape 8"/>
          <p:cNvSpPr/>
          <p:nvPr/>
        </p:nvSpPr>
        <p:spPr>
          <a:xfrm>
            <a:off x="8572500" y="2331720"/>
            <a:ext cx="996696" cy="1005840"/>
          </a:xfrm>
          <a:prstGeom prst="rect">
            <a:avLst/>
          </a:prstGeom>
          <a:solidFill>
            <a:srgbClr val="85B8B1"/>
          </a:solidFill>
          <a:ln w="7620">
            <a:solidFill>
              <a:srgbClr val="85B8B1"/>
            </a:solidFill>
            <a:prstDash val="solid"/>
          </a:ln>
        </p:spPr>
      </p:sp>
      <p:sp>
        <p:nvSpPr>
          <p:cNvPr id="11" name="Text 9"/>
          <p:cNvSpPr/>
          <p:nvPr/>
        </p:nvSpPr>
        <p:spPr>
          <a:xfrm>
            <a:off x="8645652" y="2423160"/>
            <a:ext cx="850392" cy="777240"/>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support pool</a:t>
            </a:r>
            <a:endParaRPr lang="en-US" sz="1700" dirty="0"/>
          </a:p>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10%</a:t>
            </a:r>
            <a:endParaRPr lang="en-US" sz="1700" dirty="0"/>
          </a:p>
        </p:txBody>
      </p:sp>
      <p:sp>
        <p:nvSpPr>
          <p:cNvPr id="12" name="Shape 10"/>
          <p:cNvSpPr/>
          <p:nvPr/>
        </p:nvSpPr>
        <p:spPr>
          <a:xfrm>
            <a:off x="9624060" y="2331720"/>
            <a:ext cx="1522476" cy="1005840"/>
          </a:xfrm>
          <a:prstGeom prst="rect">
            <a:avLst/>
          </a:prstGeom>
          <a:solidFill>
            <a:srgbClr val="DCEAE7"/>
          </a:solidFill>
          <a:ln w="7620">
            <a:solidFill>
              <a:srgbClr val="DCEAE7"/>
            </a:solidFill>
            <a:prstDash val="solid"/>
          </a:ln>
        </p:spPr>
      </p:sp>
      <p:sp>
        <p:nvSpPr>
          <p:cNvPr id="13" name="Text 11"/>
          <p:cNvSpPr/>
          <p:nvPr/>
        </p:nvSpPr>
        <p:spPr>
          <a:xfrm>
            <a:off x="9697212" y="2423160"/>
            <a:ext cx="1376172" cy="777240"/>
          </a:xfrm>
          <a:prstGeom prst="rect">
            <a:avLst/>
          </a:prstGeom>
          <a:noFill/>
          <a:ln/>
        </p:spPr>
        <p:txBody>
          <a:bodyPr wrap="square" lIns="0" tIns="0" rIns="0" bIns="0" rtlCol="0" anchor="ctr"/>
          <a:lstStyle/>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query</a:t>
            </a:r>
            <a:endParaRPr lang="en-US" sz="1700" dirty="0"/>
          </a:p>
          <a:p>
            <a:pPr algn="ctr" indent="0" marL="0">
              <a:buNone/>
            </a:pPr>
            <a:r>
              <a:rPr lang="en-US" sz="1700" b="1" dirty="0">
                <a:solidFill>
                  <a:srgbClr val="193B3B"/>
                </a:solidFill>
                <a:latin typeface="Arial Unicode MS" pitchFamily="34" charset="0"/>
                <a:ea typeface="Arial Unicode MS" pitchFamily="34" charset="-122"/>
                <a:cs typeface="Arial Unicode MS" pitchFamily="34" charset="-120"/>
              </a:rPr>
              <a:t>15%</a:t>
            </a:r>
            <a:endParaRPr lang="en-US" sz="1700" dirty="0"/>
          </a:p>
        </p:txBody>
      </p:sp>
      <p:sp>
        <p:nvSpPr>
          <p:cNvPr id="14" name="Text 12"/>
          <p:cNvSpPr/>
          <p:nvPr/>
        </p:nvSpPr>
        <p:spPr>
          <a:xfrm>
            <a:off x="685800" y="1856232"/>
            <a:ext cx="9144000" cy="320040"/>
          </a:xfrm>
          <a:prstGeom prst="rect">
            <a:avLst/>
          </a:prstGeom>
          <a:noFill/>
          <a:ln/>
        </p:spPr>
        <p:txBody>
          <a:bodyPr wrap="square" lIns="0" tIns="0" rIns="0" bIns="0" rtlCol="0" anchor="ctr"/>
          <a:lstStyle/>
          <a:p>
            <a:pPr indent="0" marL="0">
              <a:buNone/>
            </a:pPr>
            <a:r>
              <a:rPr lang="en-US" sz="1400" b="1" dirty="0">
                <a:solidFill>
                  <a:srgbClr val="187D80"/>
                </a:solidFill>
                <a:latin typeface="Arial Unicode MS" pitchFamily="34" charset="0"/>
                <a:ea typeface="Arial Unicode MS" pitchFamily="34" charset="-122"/>
                <a:cs typeface="Arial Unicode MS" pitchFamily="34" charset="-120"/>
              </a:rPr>
              <a:t>MIMIC-IV 3.1 · 학습과 내부 평가</a:t>
            </a:r>
            <a:endParaRPr lang="en-US" sz="1400" dirty="0"/>
          </a:p>
        </p:txBody>
      </p:sp>
      <p:sp>
        <p:nvSpPr>
          <p:cNvPr id="15" name="Shape 13"/>
          <p:cNvSpPr/>
          <p:nvPr/>
        </p:nvSpPr>
        <p:spPr>
          <a:xfrm>
            <a:off x="685800" y="3886200"/>
            <a:ext cx="4937760" cy="1737360"/>
          </a:xfrm>
          <a:prstGeom prst="rect">
            <a:avLst/>
          </a:prstGeom>
          <a:solidFill>
            <a:srgbClr val="EDF3F3"/>
          </a:solidFill>
          <a:ln w="7620">
            <a:solidFill>
              <a:srgbClr val="EDF3F3"/>
            </a:solidFill>
            <a:prstDash val="solid"/>
          </a:ln>
        </p:spPr>
      </p:sp>
      <p:sp>
        <p:nvSpPr>
          <p:cNvPr id="16" name="Text 14"/>
          <p:cNvSpPr/>
          <p:nvPr/>
        </p:nvSpPr>
        <p:spPr>
          <a:xfrm>
            <a:off x="914400" y="4069080"/>
            <a:ext cx="448056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MIMIC query</a:t>
            </a:r>
            <a:endParaRPr lang="en-US" sz="2200" dirty="0"/>
          </a:p>
        </p:txBody>
      </p:sp>
      <p:sp>
        <p:nvSpPr>
          <p:cNvPr id="17" name="Text 15"/>
          <p:cNvSpPr/>
          <p:nvPr/>
        </p:nvSpPr>
        <p:spPr>
          <a:xfrm>
            <a:off x="914400" y="4754880"/>
            <a:ext cx="4480560" cy="70408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992명 · 1,778 사례</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28개 균종–약물 조합</a:t>
            </a:r>
            <a:endParaRPr lang="en-US" sz="1800" dirty="0"/>
          </a:p>
        </p:txBody>
      </p:sp>
      <p:sp>
        <p:nvSpPr>
          <p:cNvPr id="18" name="Shape 16"/>
          <p:cNvSpPr/>
          <p:nvPr/>
        </p:nvSpPr>
        <p:spPr>
          <a:xfrm>
            <a:off x="6035040" y="3886200"/>
            <a:ext cx="5440680" cy="1737360"/>
          </a:xfrm>
          <a:prstGeom prst="rect">
            <a:avLst/>
          </a:prstGeom>
          <a:solidFill>
            <a:srgbClr val="EDF3F3"/>
          </a:solidFill>
          <a:ln w="7620">
            <a:solidFill>
              <a:srgbClr val="EDF3F3"/>
            </a:solidFill>
            <a:prstDash val="solid"/>
          </a:ln>
        </p:spPr>
      </p:sp>
      <p:sp>
        <p:nvSpPr>
          <p:cNvPr id="19" name="Text 17"/>
          <p:cNvSpPr/>
          <p:nvPr/>
        </p:nvSpPr>
        <p:spPr>
          <a:xfrm>
            <a:off x="6263640" y="4069080"/>
            <a:ext cx="498348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eICU-CRD 2.0 외부 평가</a:t>
            </a:r>
            <a:endParaRPr lang="en-US" sz="2200" dirty="0"/>
          </a:p>
        </p:txBody>
      </p:sp>
      <p:sp>
        <p:nvSpPr>
          <p:cNvPr id="20" name="Text 18"/>
          <p:cNvSpPr/>
          <p:nvPr/>
        </p:nvSpPr>
        <p:spPr>
          <a:xfrm>
            <a:off x="6263640" y="4754880"/>
            <a:ext cx="4983480" cy="70408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155명 · 218 사례</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MIMIC에서 적응한 모델 적용</a:t>
            </a:r>
            <a:endParaRPr lang="en-US" sz="1800" dirty="0"/>
          </a:p>
        </p:txBody>
      </p:sp>
      <p:sp>
        <p:nvSpPr>
          <p:cNvPr id="21" name="Text 19"/>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같은 환자의 사례는 같은 분할에 유지. eICU 목표약 정답은 평가에만 사용</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03  비교 방법</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같은 관측을 주고, 학습 방식이 다른 방법들을 비교했다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029968"/>
          <a:ext cx="10881360" cy="914400"/>
        </p:xfrm>
        <a:graphic>
          <a:graphicData uri="http://schemas.openxmlformats.org/drawingml/2006/table">
            <a:tbl>
              <a:tblPr/>
              <a:tblGrid>
                <a:gridCol w="3017520"/>
                <a:gridCol w="3931920"/>
                <a:gridCol w="3931920"/>
              </a:tblGrid>
              <a:tr h="438912">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방법</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기존약 반응 사전학습</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목표약 support 활용</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CDLD</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사례·약물 표현 + 비선형 예측기</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목표약 latent 적응</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MF</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사례·약물 벡터의 내적 + 편향</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목표약 벡터·편향 적응</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L2 로지스틱 / RF / XGBoost</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기존 AST → 목표약 직접 학습</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빈도 기준선</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support의 감수성 비율</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AST 평균</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기존약 4개 중 감수성 비율</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bl>
          </a:graphicData>
        </a:graphic>
      </p:graphicFrame>
      <p:sp>
        <p:nvSpPr>
          <p:cNvPr id="7" name="Text 4"/>
          <p:cNvSpPr/>
          <p:nvPr/>
        </p:nvSpPr>
        <p:spPr>
          <a:xfrm>
            <a:off x="777240" y="5486400"/>
            <a:ext cx="10789920" cy="365760"/>
          </a:xfrm>
          <a:prstGeom prst="rect">
            <a:avLst/>
          </a:prstGeom>
          <a:noFill/>
          <a:ln/>
        </p:spPr>
        <p:txBody>
          <a:bodyPr wrap="square" lIns="0" tIns="0" rIns="0" bIns="0" rtlCol="0" anchor="ctr"/>
          <a:lstStyle/>
          <a:p>
            <a:pPr indent="0" marL="0">
              <a:buNone/>
            </a:pPr>
            <a:r>
              <a:rPr lang="en-US" sz="2100" b="1" dirty="0">
                <a:solidFill>
                  <a:srgbClr val="187D80"/>
                </a:solidFill>
                <a:latin typeface="Arial Unicode MS" pitchFamily="34" charset="0"/>
                <a:ea typeface="Arial Unicode MS" pitchFamily="34" charset="-122"/>
                <a:cs typeface="Arial Unicode MS" pitchFamily="34" charset="-120"/>
              </a:rPr>
              <a:t>공통: 동일 사례 · 기존약 4개 · support 정답 · query</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03  지표 읽기</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성능에는 두 질문이 있다: 잘 구분하는가, 잘 판정하는가?</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11</a:t>
            </a:r>
            <a:endParaRPr lang="en-US" sz="1100" dirty="0"/>
          </a:p>
        </p:txBody>
      </p:sp>
      <p:sp>
        <p:nvSpPr>
          <p:cNvPr id="6" name="Shape 4"/>
          <p:cNvSpPr/>
          <p:nvPr/>
        </p:nvSpPr>
        <p:spPr>
          <a:xfrm>
            <a:off x="640080" y="2057400"/>
            <a:ext cx="5257800" cy="3108960"/>
          </a:xfrm>
          <a:prstGeom prst="rect">
            <a:avLst/>
          </a:prstGeom>
          <a:solidFill>
            <a:srgbClr val="EDF3F3"/>
          </a:solidFill>
          <a:ln w="7620">
            <a:solidFill>
              <a:srgbClr val="EDF3F3"/>
            </a:solidFill>
            <a:prstDash val="solid"/>
          </a:ln>
        </p:spPr>
      </p:sp>
      <p:sp>
        <p:nvSpPr>
          <p:cNvPr id="7" name="Text 5"/>
          <p:cNvSpPr/>
          <p:nvPr/>
        </p:nvSpPr>
        <p:spPr>
          <a:xfrm>
            <a:off x="868680" y="2240280"/>
            <a:ext cx="48006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AUROC · 구분 능력</a:t>
            </a:r>
            <a:endParaRPr lang="en-US" sz="2200" dirty="0"/>
          </a:p>
        </p:txBody>
      </p:sp>
      <p:sp>
        <p:nvSpPr>
          <p:cNvPr id="8" name="Text 6"/>
          <p:cNvSpPr/>
          <p:nvPr/>
        </p:nvSpPr>
        <p:spPr>
          <a:xfrm>
            <a:off x="868680" y="2926080"/>
            <a:ext cx="4800600" cy="207568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감수성 사례에 비감수성 사례보다</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높은 예측 점수를 주는가?</a:t>
            </a:r>
            <a:endParaRPr lang="en-US" sz="1800" dirty="0"/>
          </a:p>
          <a:p>
            <a:pPr indent="0" marL="0">
              <a:buNone/>
            </a:pP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0.5는 무작위 수준 · 1은 완전 구분</a:t>
            </a:r>
            <a:endParaRPr lang="en-US" sz="1800" dirty="0"/>
          </a:p>
        </p:txBody>
      </p:sp>
      <p:sp>
        <p:nvSpPr>
          <p:cNvPr id="9" name="Shape 7"/>
          <p:cNvSpPr/>
          <p:nvPr/>
        </p:nvSpPr>
        <p:spPr>
          <a:xfrm>
            <a:off x="6291072" y="2057400"/>
            <a:ext cx="5257800" cy="3108960"/>
          </a:xfrm>
          <a:prstGeom prst="rect">
            <a:avLst/>
          </a:prstGeom>
          <a:solidFill>
            <a:srgbClr val="EDF3F3"/>
          </a:solidFill>
          <a:ln w="7620">
            <a:solidFill>
              <a:srgbClr val="EDF3F3"/>
            </a:solidFill>
            <a:prstDash val="solid"/>
          </a:ln>
        </p:spPr>
      </p:sp>
      <p:sp>
        <p:nvSpPr>
          <p:cNvPr id="10" name="Text 8"/>
          <p:cNvSpPr/>
          <p:nvPr/>
        </p:nvSpPr>
        <p:spPr>
          <a:xfrm>
            <a:off x="6519672" y="2240280"/>
            <a:ext cx="48006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0.5 기준 · 분류 결과</a:t>
            </a:r>
            <a:endParaRPr lang="en-US" sz="2200" dirty="0"/>
          </a:p>
        </p:txBody>
      </p:sp>
      <p:sp>
        <p:nvSpPr>
          <p:cNvPr id="11" name="Text 9"/>
          <p:cNvSpPr/>
          <p:nvPr/>
        </p:nvSpPr>
        <p:spPr>
          <a:xfrm>
            <a:off x="6519672" y="2926080"/>
            <a:ext cx="4800600" cy="207568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점수가 0.5 이상이면 감수성으로 판정</a:t>
            </a:r>
            <a:endParaRPr lang="en-US" sz="1800" dirty="0"/>
          </a:p>
          <a:p>
            <a:pPr indent="0" marL="0">
              <a:buNone/>
            </a:pP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감수성 민감도: S를 S로 찾는 비율</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특이도: I/R을 I/R로 찾는 비율</a:t>
            </a:r>
            <a:endParaRPr lang="en-US" sz="1800" dirty="0"/>
          </a:p>
        </p:txBody>
      </p:sp>
      <p:sp>
        <p:nvSpPr>
          <p:cNvPr id="12" name="Text 10"/>
          <p:cNvSpPr/>
          <p:nvPr/>
        </p:nvSpPr>
        <p:spPr>
          <a:xfrm>
            <a:off x="777240" y="5486400"/>
            <a:ext cx="10789920" cy="365760"/>
          </a:xfrm>
          <a:prstGeom prst="rect">
            <a:avLst/>
          </a:prstGeom>
          <a:noFill/>
          <a:ln/>
        </p:spPr>
        <p:txBody>
          <a:bodyPr wrap="square" lIns="0" tIns="0" rIns="0" bIns="0" rtlCol="0" anchor="ctr"/>
          <a:lstStyle/>
          <a:p>
            <a:pPr indent="0" marL="0">
              <a:buNone/>
            </a:pPr>
            <a:r>
              <a:rPr lang="en-US" sz="1800" dirty="0">
                <a:solidFill>
                  <a:srgbClr val="66747A"/>
                </a:solidFill>
                <a:latin typeface="Arial Unicode MS" pitchFamily="34" charset="0"/>
                <a:ea typeface="Arial Unicode MS" pitchFamily="34" charset="-122"/>
                <a:cs typeface="Arial Unicode MS" pitchFamily="34" charset="-120"/>
              </a:rPr>
              <a:t>정확도 = 전체 정답 비율     F1(S) = 감수성 정밀도와 민감도의 조화평균</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04  결과 · 전체 성능</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MIMIC · 전체 방법의 성능 비교</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12</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1993392"/>
          <a:ext cx="10991088" cy="914400"/>
        </p:xfrm>
        <a:graphic>
          <a:graphicData uri="http://schemas.openxmlformats.org/drawingml/2006/table">
            <a:tbl>
              <a:tblPr/>
              <a:tblGrid>
                <a:gridCol w="2395728"/>
                <a:gridCol w="1719072"/>
                <a:gridCol w="1719072"/>
                <a:gridCol w="1719072"/>
                <a:gridCol w="1719072"/>
                <a:gridCol w="1719072"/>
              </a:tblGrid>
              <a:tr h="438912">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방법</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AUROC</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정확도</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민감도(S)</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F1(S)</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특이도</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CDLD</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0.8250</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0.8395</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0.9296</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0.8796</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0.4506</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MF</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b="1" dirty="0">
                          <a:solidFill>
                            <a:srgbClr val="193B3B"/>
                          </a:solidFill>
                          <a:latin typeface="Arial Unicode MS" pitchFamily="34" charset="0"/>
                          <a:ea typeface="Arial Unicode MS" pitchFamily="34" charset="-122"/>
                          <a:cs typeface="Arial Unicode MS" pitchFamily="34" charset="-120"/>
                        </a:rPr>
                        <a:t>0.8478</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b="1" dirty="0">
                          <a:solidFill>
                            <a:srgbClr val="193B3B"/>
                          </a:solidFill>
                          <a:latin typeface="Arial Unicode MS" pitchFamily="34" charset="0"/>
                          <a:ea typeface="Arial Unicode MS" pitchFamily="34" charset="-122"/>
                          <a:cs typeface="Arial Unicode MS" pitchFamily="34" charset="-120"/>
                        </a:rPr>
                        <a:t>0.8401</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b="1" dirty="0">
                          <a:solidFill>
                            <a:srgbClr val="193B3B"/>
                          </a:solidFill>
                          <a:latin typeface="Arial Unicode MS" pitchFamily="34" charset="0"/>
                          <a:ea typeface="Arial Unicode MS" pitchFamily="34" charset="-122"/>
                          <a:cs typeface="Arial Unicode MS" pitchFamily="34" charset="-120"/>
                        </a:rPr>
                        <a:t>0.9379</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b="1" dirty="0">
                          <a:solidFill>
                            <a:srgbClr val="193B3B"/>
                          </a:solidFill>
                          <a:latin typeface="Arial Unicode MS" pitchFamily="34" charset="0"/>
                          <a:ea typeface="Arial Unicode MS" pitchFamily="34" charset="-122"/>
                          <a:cs typeface="Arial Unicode MS" pitchFamily="34" charset="-120"/>
                        </a:rPr>
                        <a:t>0.8845</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b="1" dirty="0">
                          <a:solidFill>
                            <a:srgbClr val="193B3B"/>
                          </a:solidFill>
                          <a:latin typeface="Arial Unicode MS" pitchFamily="34" charset="0"/>
                          <a:ea typeface="Arial Unicode MS" pitchFamily="34" charset="-122"/>
                          <a:cs typeface="Arial Unicode MS" pitchFamily="34" charset="-120"/>
                        </a:rPr>
                        <a:t>0.5406</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L2 logistic</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0.8046</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0.8266</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0.9374</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0.8714</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0.3691</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RF</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0.7888</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0.8107</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0.9325</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0.8605</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0.3284</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XGBoost</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0.7879</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0.8287</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0.9228</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0.8707</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0.4134</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AST mean</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0.8367</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0.7641</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0.9442</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0.8429</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0.3884</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Frequency</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0.5000</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0.7318</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0.9143</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0.7734</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0.0857</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bl>
          </a:graphicData>
        </a:graphic>
      </p:graphicFrame>
      <p:sp>
        <p:nvSpPr>
          <p:cNvPr id="7" name="Text 4"/>
          <p:cNvSpPr/>
          <p:nvPr/>
        </p:nvSpPr>
        <p:spPr>
          <a:xfrm>
            <a:off x="731520" y="5440680"/>
            <a:ext cx="10789920" cy="411480"/>
          </a:xfrm>
          <a:prstGeom prst="rect">
            <a:avLst/>
          </a:prstGeom>
          <a:noFill/>
          <a:ln/>
        </p:spPr>
        <p:txBody>
          <a:bodyPr wrap="square" lIns="0" tIns="0" rIns="0" bIns="0" rtlCol="0" anchor="ctr"/>
          <a:lstStyle/>
          <a:p>
            <a:pPr indent="0" marL="0">
              <a:buNone/>
            </a:pPr>
            <a:r>
              <a:rPr lang="en-US" sz="2100" b="1" dirty="0">
                <a:solidFill>
                  <a:srgbClr val="187D80"/>
                </a:solidFill>
                <a:latin typeface="Arial Unicode MS" pitchFamily="34" charset="0"/>
                <a:ea typeface="Arial Unicode MS" pitchFamily="34" charset="-122"/>
                <a:cs typeface="Arial Unicode MS" pitchFamily="34" charset="-120"/>
              </a:rPr>
              <a:t>학습 방법 중 MF가 다섯 지표에서 최고값을 보였다</a:t>
            </a:r>
            <a:endParaRPr lang="en-US" sz="2100" dirty="0"/>
          </a:p>
        </p:txBody>
      </p:sp>
      <p:sp>
        <p:nvSpPr>
          <p:cNvPr id="8" name="Text 5"/>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목표약 관측 50개 · 28조합 평균. 굵은 값: 학습 방법 중 최고. AST 평균은 support 미사용</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04  결과 · 전체 성능</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eICU · 전체 방법의 성능 비교</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13</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1993392"/>
          <a:ext cx="10991088" cy="914400"/>
        </p:xfrm>
        <a:graphic>
          <a:graphicData uri="http://schemas.openxmlformats.org/drawingml/2006/table">
            <a:tbl>
              <a:tblPr/>
              <a:tblGrid>
                <a:gridCol w="2395728"/>
                <a:gridCol w="1719072"/>
                <a:gridCol w="1719072"/>
                <a:gridCol w="1719072"/>
                <a:gridCol w="1719072"/>
                <a:gridCol w="1719072"/>
              </a:tblGrid>
              <a:tr h="438912">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방법</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AUROC</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정확도</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민감도(S)</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F1(S)</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700" b="1" dirty="0">
                          <a:solidFill>
                            <a:srgbClr val="FFFFFF"/>
                          </a:solidFill>
                          <a:latin typeface="Arial Unicode MS" pitchFamily="34" charset="0"/>
                          <a:ea typeface="Arial Unicode MS" pitchFamily="34" charset="-122"/>
                          <a:cs typeface="Arial Unicode MS" pitchFamily="34" charset="-120"/>
                        </a:rPr>
                        <a:t>특이도</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CDLD</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b="1" dirty="0">
                          <a:solidFill>
                            <a:srgbClr val="193B3B"/>
                          </a:solidFill>
                          <a:latin typeface="Arial Unicode MS" pitchFamily="34" charset="0"/>
                          <a:ea typeface="Arial Unicode MS" pitchFamily="34" charset="-122"/>
                          <a:cs typeface="Arial Unicode MS" pitchFamily="34" charset="-120"/>
                        </a:rPr>
                        <a:t>0.8474</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b="1" dirty="0">
                          <a:solidFill>
                            <a:srgbClr val="193B3B"/>
                          </a:solidFill>
                          <a:latin typeface="Arial Unicode MS" pitchFamily="34" charset="0"/>
                          <a:ea typeface="Arial Unicode MS" pitchFamily="34" charset="-122"/>
                          <a:cs typeface="Arial Unicode MS" pitchFamily="34" charset="-120"/>
                        </a:rPr>
                        <a:t>0.8725</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b="1" dirty="0">
                          <a:solidFill>
                            <a:srgbClr val="193B3B"/>
                          </a:solidFill>
                          <a:latin typeface="Arial Unicode MS" pitchFamily="34" charset="0"/>
                          <a:ea typeface="Arial Unicode MS" pitchFamily="34" charset="-122"/>
                          <a:cs typeface="Arial Unicode MS" pitchFamily="34" charset="-120"/>
                        </a:rPr>
                        <a:t>0.9247</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b="1" dirty="0">
                          <a:solidFill>
                            <a:srgbClr val="193B3B"/>
                          </a:solidFill>
                          <a:latin typeface="Arial Unicode MS" pitchFamily="34" charset="0"/>
                          <a:ea typeface="Arial Unicode MS" pitchFamily="34" charset="-122"/>
                          <a:cs typeface="Arial Unicode MS" pitchFamily="34" charset="-120"/>
                        </a:rPr>
                        <a:t>0.9002</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0.4629</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MF</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0.8193</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0.8363</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0.8997</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0.8810</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b="1" dirty="0">
                          <a:solidFill>
                            <a:srgbClr val="193B3B"/>
                          </a:solidFill>
                          <a:latin typeface="Arial Unicode MS" pitchFamily="34" charset="0"/>
                          <a:ea typeface="Arial Unicode MS" pitchFamily="34" charset="-122"/>
                          <a:cs typeface="Arial Unicode MS" pitchFamily="34" charset="-120"/>
                        </a:rPr>
                        <a:t>0.5362</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L2 logistic</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0.7490</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0.8307</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0.8432</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0.8454</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0.3990</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RF</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0.7212</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0.8201</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0.8292</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0.8273</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0.3633</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XGBoost</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0.7293</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0.8296</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0.8387</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0.8507</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0.4372</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AST mean</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0.8601</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0.8032</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0.9436</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0.8700</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0.3327</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Frequency</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0.5000</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0.8140</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0.9143</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0.8233</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700" dirty="0">
                          <a:solidFill>
                            <a:srgbClr val="193B3B"/>
                          </a:solidFill>
                          <a:latin typeface="Arial Unicode MS" pitchFamily="34" charset="0"/>
                          <a:ea typeface="Arial Unicode MS" pitchFamily="34" charset="-122"/>
                          <a:cs typeface="Arial Unicode MS" pitchFamily="34" charset="-120"/>
                        </a:rPr>
                        <a:t>0.0923</a:t>
                      </a:r>
                      <a:endParaRPr lang="en-US" sz="17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bl>
          </a:graphicData>
        </a:graphic>
      </p:graphicFrame>
      <p:sp>
        <p:nvSpPr>
          <p:cNvPr id="7" name="Text 4"/>
          <p:cNvSpPr/>
          <p:nvPr/>
        </p:nvSpPr>
        <p:spPr>
          <a:xfrm>
            <a:off x="731520" y="5440680"/>
            <a:ext cx="10789920" cy="411480"/>
          </a:xfrm>
          <a:prstGeom prst="rect">
            <a:avLst/>
          </a:prstGeom>
          <a:noFill/>
          <a:ln/>
        </p:spPr>
        <p:txBody>
          <a:bodyPr wrap="square" lIns="0" tIns="0" rIns="0" bIns="0" rtlCol="0" anchor="ctr"/>
          <a:lstStyle/>
          <a:p>
            <a:pPr indent="0" marL="0">
              <a:buNone/>
            </a:pPr>
            <a:r>
              <a:rPr lang="en-US" sz="2100" b="1" dirty="0">
                <a:solidFill>
                  <a:srgbClr val="187D80"/>
                </a:solidFill>
                <a:latin typeface="Arial Unicode MS" pitchFamily="34" charset="0"/>
                <a:ea typeface="Arial Unicode MS" pitchFamily="34" charset="-122"/>
                <a:cs typeface="Arial Unicode MS" pitchFamily="34" charset="-120"/>
              </a:rPr>
              <a:t>학습 방법 중 CDLD는 네 지표, MF는 특이도에서 최고값을 보였다</a:t>
            </a:r>
            <a:endParaRPr lang="en-US" sz="2100" dirty="0"/>
          </a:p>
        </p:txBody>
      </p:sp>
      <p:sp>
        <p:nvSpPr>
          <p:cNvPr id="8" name="Text 5"/>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목표약 관측 50개 · AUROC·특이도 26조합, 나머지 28조합. 굵은 값: 학습 방법 중 최고</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04  결과 · SUPPORT 곡선</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MIMIC: support가 늘면 MF의 AUROC가 CDLD를 넘어선다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14</a:t>
            </a:r>
            <a:endParaRPr lang="en-US" sz="1100" dirty="0"/>
          </a:p>
        </p:txBody>
      </p:sp>
      <p:graphicFrame>
        <p:nvGraphicFramePr>
          <p:cNvPr id="6" name="Chart 0" descr=""/>
          <p:cNvGraphicFramePr/>
          <p:nvPr/>
        </p:nvGraphicFramePr>
        <p:xfrm>
          <a:off x="548640" y="2011680"/>
          <a:ext cx="7543800" cy="3886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458200" y="2560320"/>
            <a:ext cx="3063240" cy="237744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10개: CDLD &gt; MF</a:t>
            </a:r>
            <a:endParaRPr lang="en-US" sz="2200" dirty="0"/>
          </a:p>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20개부터: MF &gt; CDLD</a:t>
            </a:r>
            <a:endParaRPr lang="en-US" sz="2200" dirty="0"/>
          </a:p>
          <a:p>
            <a:pPr indent="0" marL="0">
              <a:buNone/>
            </a:pPr>
            <a:endParaRPr lang="en-US" sz="2200" dirty="0"/>
          </a:p>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관측 증가의 이득이 다름</a:t>
            </a:r>
            <a:endParaRPr lang="en-US" sz="2200" dirty="0"/>
          </a:p>
        </p:txBody>
      </p:sp>
      <p:sp>
        <p:nvSpPr>
          <p:cNvPr id="8" name="Text 5"/>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28조합 동일가중 평균 AUROC. 전체 방법의 성능표는 앞 절에 제시</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04  결과 · SUPPORT 곡선</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eICU: 관측 10–50개에서 CDLD의 AUROC가 MF보다 높았다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15</a:t>
            </a:r>
            <a:endParaRPr lang="en-US" sz="1100" dirty="0"/>
          </a:p>
        </p:txBody>
      </p:sp>
      <p:graphicFrame>
        <p:nvGraphicFramePr>
          <p:cNvPr id="6" name="Chart 0" descr=""/>
          <p:cNvGraphicFramePr/>
          <p:nvPr/>
        </p:nvGraphicFramePr>
        <p:xfrm>
          <a:off x="548640" y="2011680"/>
          <a:ext cx="7543800" cy="3886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458200" y="2560320"/>
            <a:ext cx="3063240" cy="237744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10–50개 모두</a:t>
            </a:r>
            <a:endParaRPr lang="en-US" sz="2200" dirty="0"/>
          </a:p>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CDLD &gt; MF</a:t>
            </a:r>
            <a:endParaRPr lang="en-US" sz="2200" dirty="0"/>
          </a:p>
          <a:p>
            <a:pPr indent="0" marL="0">
              <a:buNone/>
            </a:pPr>
            <a:endParaRPr lang="en-US" sz="2200" dirty="0"/>
          </a:p>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MIMIC과 다른</a:t>
            </a:r>
            <a:endParaRPr lang="en-US" sz="2200" dirty="0"/>
          </a:p>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상대 성능</a:t>
            </a:r>
            <a:endParaRPr lang="en-US" sz="2200" dirty="0"/>
          </a:p>
        </p:txBody>
      </p:sp>
      <p:sp>
        <p:nvSpPr>
          <p:cNvPr id="8" name="Text 5"/>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26조합 동일가중 평균 AUROC. support는 MIMIC에서 제공</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05  적응이 바꾼 것</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Support 0은 ‘목표약 latent를 갱신하지 않은’ 비교 조건이다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16</a:t>
            </a:r>
            <a:endParaRPr lang="en-US" sz="1100" dirty="0"/>
          </a:p>
        </p:txBody>
      </p:sp>
      <p:sp>
        <p:nvSpPr>
          <p:cNvPr id="6" name="Shape 4"/>
          <p:cNvSpPr/>
          <p:nvPr/>
        </p:nvSpPr>
        <p:spPr>
          <a:xfrm>
            <a:off x="731520" y="2148840"/>
            <a:ext cx="5074920" cy="2560320"/>
          </a:xfrm>
          <a:prstGeom prst="rect">
            <a:avLst/>
          </a:prstGeom>
          <a:solidFill>
            <a:srgbClr val="EDF3F3"/>
          </a:solidFill>
          <a:ln w="7620">
            <a:solidFill>
              <a:srgbClr val="EDF3F3"/>
            </a:solidFill>
            <a:prstDash val="solid"/>
          </a:ln>
        </p:spPr>
      </p:sp>
      <p:sp>
        <p:nvSpPr>
          <p:cNvPr id="7" name="Text 5"/>
          <p:cNvSpPr/>
          <p:nvPr/>
        </p:nvSpPr>
        <p:spPr>
          <a:xfrm>
            <a:off x="960120" y="2331720"/>
            <a:ext cx="461772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Support 0</a:t>
            </a:r>
            <a:endParaRPr lang="en-US" sz="2200" dirty="0"/>
          </a:p>
        </p:txBody>
      </p:sp>
      <p:sp>
        <p:nvSpPr>
          <p:cNvPr id="8" name="Text 6"/>
          <p:cNvSpPr/>
          <p:nvPr/>
        </p:nvSpPr>
        <p:spPr>
          <a:xfrm>
            <a:off x="960120" y="3017520"/>
            <a:ext cx="4617720" cy="152704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기존약 모델: 학습됨</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사례 latent: 네 AST로 추정</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목표약 latent: 초기값 유지</a:t>
            </a:r>
            <a:endParaRPr lang="en-US" sz="1800" dirty="0"/>
          </a:p>
        </p:txBody>
      </p:sp>
      <p:sp>
        <p:nvSpPr>
          <p:cNvPr id="9" name="Shape 7"/>
          <p:cNvSpPr/>
          <p:nvPr/>
        </p:nvSpPr>
        <p:spPr>
          <a:xfrm>
            <a:off x="6355080" y="2148840"/>
            <a:ext cx="5074920" cy="2560320"/>
          </a:xfrm>
          <a:prstGeom prst="rect">
            <a:avLst/>
          </a:prstGeom>
          <a:solidFill>
            <a:srgbClr val="EDF3F3"/>
          </a:solidFill>
          <a:ln w="7620">
            <a:solidFill>
              <a:srgbClr val="EDF3F3"/>
            </a:solidFill>
            <a:prstDash val="solid"/>
          </a:ln>
        </p:spPr>
      </p:sp>
      <p:sp>
        <p:nvSpPr>
          <p:cNvPr id="10" name="Text 8"/>
          <p:cNvSpPr/>
          <p:nvPr/>
        </p:nvSpPr>
        <p:spPr>
          <a:xfrm>
            <a:off x="6583680" y="2331720"/>
            <a:ext cx="461772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Support 50</a:t>
            </a:r>
            <a:endParaRPr lang="en-US" sz="2200" dirty="0"/>
          </a:p>
        </p:txBody>
      </p:sp>
      <p:sp>
        <p:nvSpPr>
          <p:cNvPr id="11" name="Text 9"/>
          <p:cNvSpPr/>
          <p:nvPr/>
        </p:nvSpPr>
        <p:spPr>
          <a:xfrm>
            <a:off x="6583680" y="3017520"/>
            <a:ext cx="4617720" cy="152704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같은 기존약 모델</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같은 사례 latent</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목표약 latent: 정답 50개로 갱신</a:t>
            </a:r>
            <a:endParaRPr lang="en-US" sz="1800" dirty="0"/>
          </a:p>
        </p:txBody>
      </p:sp>
      <p:sp>
        <p:nvSpPr>
          <p:cNvPr id="12" name="Text 10"/>
          <p:cNvSpPr/>
          <p:nvPr/>
        </p:nvSpPr>
        <p:spPr>
          <a:xfrm>
            <a:off x="777240" y="5257800"/>
            <a:ext cx="10789920" cy="502920"/>
          </a:xfrm>
          <a:prstGeom prst="rect">
            <a:avLst/>
          </a:prstGeom>
          <a:noFill/>
          <a:ln/>
        </p:spPr>
        <p:txBody>
          <a:bodyPr wrap="square" lIns="0" tIns="0" rIns="0" bIns="0" rtlCol="0" anchor="ctr"/>
          <a:lstStyle/>
          <a:p>
            <a:pPr indent="0" marL="0">
              <a:buNone/>
            </a:pPr>
            <a:r>
              <a:rPr lang="en-US" sz="2300" b="1" dirty="0">
                <a:solidFill>
                  <a:srgbClr val="187D80"/>
                </a:solidFill>
                <a:latin typeface="Arial Unicode MS" pitchFamily="34" charset="0"/>
                <a:ea typeface="Arial Unicode MS" pitchFamily="34" charset="-122"/>
                <a:cs typeface="Arial Unicode MS" pitchFamily="34" charset="-120"/>
              </a:rPr>
              <a:t>이 비교는 목표약 support 적응이 추가한 효과를 보여준다</a:t>
            </a:r>
            <a:endParaRPr lang="en-US" sz="2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05  적응이 바꾼 것</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CDLD 적응은 정확도를 높였지만, 비감수성 검출은 낮아졌다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27080" cy="914400"/>
        </p:xfrm>
        <a:graphic>
          <a:graphicData uri="http://schemas.openxmlformats.org/drawingml/2006/table">
            <a:tbl>
              <a:tblPr/>
              <a:tblGrid>
                <a:gridCol w="2194560"/>
                <a:gridCol w="2907792"/>
                <a:gridCol w="2907792"/>
                <a:gridCol w="2916936"/>
              </a:tblGrid>
              <a:tr h="438912">
                <a:tc>
                  <a:txBody>
                    <a:bodyPr/>
                    <a:lstStyle/>
                    <a:p>
                      <a:pPr indent="0" marL="0">
                        <a:buNone/>
                      </a:pPr>
                      <a:r>
                        <a:rPr lang="en-US" sz="1900" b="1" dirty="0">
                          <a:solidFill>
                            <a:srgbClr val="FFFFFF"/>
                          </a:solidFill>
                          <a:latin typeface="Arial Unicode MS" pitchFamily="34" charset="0"/>
                          <a:ea typeface="Arial Unicode MS" pitchFamily="34" charset="-122"/>
                          <a:cs typeface="Arial Unicode MS" pitchFamily="34" charset="-120"/>
                        </a:rPr>
                        <a:t>support 0 → 50</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900" b="1" dirty="0">
                          <a:solidFill>
                            <a:srgbClr val="FFFFFF"/>
                          </a:solidFill>
                          <a:latin typeface="Arial Unicode MS" pitchFamily="34" charset="0"/>
                          <a:ea typeface="Arial Unicode MS" pitchFamily="34" charset="-122"/>
                          <a:cs typeface="Arial Unicode MS" pitchFamily="34" charset="-120"/>
                        </a:rPr>
                        <a:t>정확도 ↑</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900" b="1" dirty="0">
                          <a:solidFill>
                            <a:srgbClr val="FFFFFF"/>
                          </a:solidFill>
                          <a:latin typeface="Arial Unicode MS" pitchFamily="34" charset="0"/>
                          <a:ea typeface="Arial Unicode MS" pitchFamily="34" charset="-122"/>
                          <a:cs typeface="Arial Unicode MS" pitchFamily="34" charset="-120"/>
                        </a:rPr>
                        <a:t>특이도 ↓</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1900" b="1" dirty="0">
                          <a:solidFill>
                            <a:srgbClr val="FFFFFF"/>
                          </a:solidFill>
                          <a:latin typeface="Arial Unicode MS" pitchFamily="34" charset="0"/>
                          <a:ea typeface="Arial Unicode MS" pitchFamily="34" charset="-122"/>
                          <a:cs typeface="Arial Unicode MS" pitchFamily="34" charset="-120"/>
                        </a:rPr>
                        <a:t>AUROC ↓</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r>
              <a:tr h="438912">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MIMIC</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0.7774</a:t>
                      </a:r>
                      <a:pPr indent="0" marL="0">
                        <a:buNone/>
                      </a:pPr>
                      <a:r>
                        <a:rPr lang="en-US" sz="1900" dirty="0">
                          <a:solidFill>
                            <a:srgbClr val="193B3B"/>
                          </a:solidFill>
                          <a:latin typeface="Arial Unicode MS" pitchFamily="34" charset="0"/>
                          <a:ea typeface="Arial Unicode MS" pitchFamily="34" charset="-122"/>
                          <a:cs typeface="Arial Unicode MS" pitchFamily="34" charset="-120"/>
                        </a:rPr>
                        <a:t> → </a:t>
                      </a:r>
                      <a:pPr indent="0" marL="0">
                        <a:buNone/>
                      </a:pPr>
                      <a:r>
                        <a:rPr lang="en-US" sz="1900" b="1" dirty="0">
                          <a:solidFill>
                            <a:srgbClr val="193B3B"/>
                          </a:solidFill>
                          <a:latin typeface="Arial Unicode MS" pitchFamily="34" charset="0"/>
                          <a:ea typeface="Arial Unicode MS" pitchFamily="34" charset="-122"/>
                          <a:cs typeface="Arial Unicode MS" pitchFamily="34" charset="-120"/>
                        </a:rPr>
                        <a:t>0.8395</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900" b="1" dirty="0">
                          <a:solidFill>
                            <a:srgbClr val="193B3B"/>
                          </a:solidFill>
                          <a:latin typeface="Arial Unicode MS" pitchFamily="34" charset="0"/>
                          <a:ea typeface="Arial Unicode MS" pitchFamily="34" charset="-122"/>
                          <a:cs typeface="Arial Unicode MS" pitchFamily="34" charset="-120"/>
                        </a:rPr>
                        <a:t>0.4975</a:t>
                      </a:r>
                      <a:pPr indent="0" marL="0">
                        <a:buNone/>
                      </a:pPr>
                      <a:r>
                        <a:rPr lang="en-US" sz="1900" dirty="0">
                          <a:solidFill>
                            <a:srgbClr val="193B3B"/>
                          </a:solidFill>
                          <a:latin typeface="Arial Unicode MS" pitchFamily="34" charset="0"/>
                          <a:ea typeface="Arial Unicode MS" pitchFamily="34" charset="-122"/>
                          <a:cs typeface="Arial Unicode MS" pitchFamily="34" charset="-120"/>
                        </a:rPr>
                        <a:t> → </a:t>
                      </a:r>
                      <a:pPr indent="0" marL="0">
                        <a:buNone/>
                      </a:pPr>
                      <a:r>
                        <a:rPr lang="en-US" sz="1900" dirty="0">
                          <a:solidFill>
                            <a:srgbClr val="193B3B"/>
                          </a:solidFill>
                          <a:latin typeface="Arial Unicode MS" pitchFamily="34" charset="0"/>
                          <a:ea typeface="Arial Unicode MS" pitchFamily="34" charset="-122"/>
                          <a:cs typeface="Arial Unicode MS" pitchFamily="34" charset="-120"/>
                        </a:rPr>
                        <a:t>0.4506</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900" b="1" dirty="0">
                          <a:solidFill>
                            <a:srgbClr val="193B3B"/>
                          </a:solidFill>
                          <a:latin typeface="Arial Unicode MS" pitchFamily="34" charset="0"/>
                          <a:ea typeface="Arial Unicode MS" pitchFamily="34" charset="-122"/>
                          <a:cs typeface="Arial Unicode MS" pitchFamily="34" charset="-120"/>
                        </a:rPr>
                        <a:t>0.8280</a:t>
                      </a:r>
                      <a:pPr indent="0" marL="0">
                        <a:buNone/>
                      </a:pPr>
                      <a:r>
                        <a:rPr lang="en-US" sz="1900" dirty="0">
                          <a:solidFill>
                            <a:srgbClr val="193B3B"/>
                          </a:solidFill>
                          <a:latin typeface="Arial Unicode MS" pitchFamily="34" charset="0"/>
                          <a:ea typeface="Arial Unicode MS" pitchFamily="34" charset="-122"/>
                          <a:cs typeface="Arial Unicode MS" pitchFamily="34" charset="-120"/>
                        </a:rPr>
                        <a:t> → </a:t>
                      </a:r>
                      <a:pPr indent="0" marL="0">
                        <a:buNone/>
                      </a:pPr>
                      <a:r>
                        <a:rPr lang="en-US" sz="1900" dirty="0">
                          <a:solidFill>
                            <a:srgbClr val="193B3B"/>
                          </a:solidFill>
                          <a:latin typeface="Arial Unicode MS" pitchFamily="34" charset="0"/>
                          <a:ea typeface="Arial Unicode MS" pitchFamily="34" charset="-122"/>
                          <a:cs typeface="Arial Unicode MS" pitchFamily="34" charset="-120"/>
                        </a:rPr>
                        <a:t>0.8250</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438912">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eICU</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0.8114</a:t>
                      </a:r>
                      <a:pPr indent="0" marL="0">
                        <a:buNone/>
                      </a:pPr>
                      <a:r>
                        <a:rPr lang="en-US" sz="1900" dirty="0">
                          <a:solidFill>
                            <a:srgbClr val="193B3B"/>
                          </a:solidFill>
                          <a:latin typeface="Arial Unicode MS" pitchFamily="34" charset="0"/>
                          <a:ea typeface="Arial Unicode MS" pitchFamily="34" charset="-122"/>
                          <a:cs typeface="Arial Unicode MS" pitchFamily="34" charset="-120"/>
                        </a:rPr>
                        <a:t> → </a:t>
                      </a:r>
                      <a:pPr indent="0" marL="0">
                        <a:buNone/>
                      </a:pPr>
                      <a:r>
                        <a:rPr lang="en-US" sz="1900" b="1" dirty="0">
                          <a:solidFill>
                            <a:srgbClr val="193B3B"/>
                          </a:solidFill>
                          <a:latin typeface="Arial Unicode MS" pitchFamily="34" charset="0"/>
                          <a:ea typeface="Arial Unicode MS" pitchFamily="34" charset="-122"/>
                          <a:cs typeface="Arial Unicode MS" pitchFamily="34" charset="-120"/>
                        </a:rPr>
                        <a:t>0.8725</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900" b="1" dirty="0">
                          <a:solidFill>
                            <a:srgbClr val="193B3B"/>
                          </a:solidFill>
                          <a:latin typeface="Arial Unicode MS" pitchFamily="34" charset="0"/>
                          <a:ea typeface="Arial Unicode MS" pitchFamily="34" charset="-122"/>
                          <a:cs typeface="Arial Unicode MS" pitchFamily="34" charset="-120"/>
                        </a:rPr>
                        <a:t>0.5672</a:t>
                      </a:r>
                      <a:pPr indent="0" marL="0">
                        <a:buNone/>
                      </a:pPr>
                      <a:r>
                        <a:rPr lang="en-US" sz="1900" dirty="0">
                          <a:solidFill>
                            <a:srgbClr val="193B3B"/>
                          </a:solidFill>
                          <a:latin typeface="Arial Unicode MS" pitchFamily="34" charset="0"/>
                          <a:ea typeface="Arial Unicode MS" pitchFamily="34" charset="-122"/>
                          <a:cs typeface="Arial Unicode MS" pitchFamily="34" charset="-120"/>
                        </a:rPr>
                        <a:t> → </a:t>
                      </a:r>
                      <a:pPr indent="0" marL="0">
                        <a:buNone/>
                      </a:pPr>
                      <a:r>
                        <a:rPr lang="en-US" sz="1900" dirty="0">
                          <a:solidFill>
                            <a:srgbClr val="193B3B"/>
                          </a:solidFill>
                          <a:latin typeface="Arial Unicode MS" pitchFamily="34" charset="0"/>
                          <a:ea typeface="Arial Unicode MS" pitchFamily="34" charset="-122"/>
                          <a:cs typeface="Arial Unicode MS" pitchFamily="34" charset="-120"/>
                        </a:rPr>
                        <a:t>0.4629</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1900" b="1" dirty="0">
                          <a:solidFill>
                            <a:srgbClr val="193B3B"/>
                          </a:solidFill>
                          <a:latin typeface="Arial Unicode MS" pitchFamily="34" charset="0"/>
                          <a:ea typeface="Arial Unicode MS" pitchFamily="34" charset="-122"/>
                          <a:cs typeface="Arial Unicode MS" pitchFamily="34" charset="-120"/>
                        </a:rPr>
                        <a:t>0.8567</a:t>
                      </a:r>
                      <a:pPr indent="0" marL="0">
                        <a:buNone/>
                      </a:pPr>
                      <a:r>
                        <a:rPr lang="en-US" sz="1900" dirty="0">
                          <a:solidFill>
                            <a:srgbClr val="193B3B"/>
                          </a:solidFill>
                          <a:latin typeface="Arial Unicode MS" pitchFamily="34" charset="0"/>
                          <a:ea typeface="Arial Unicode MS" pitchFamily="34" charset="-122"/>
                          <a:cs typeface="Arial Unicode MS" pitchFamily="34" charset="-120"/>
                        </a:rPr>
                        <a:t> → </a:t>
                      </a:r>
                      <a:pPr indent="0" marL="0">
                        <a:buNone/>
                      </a:pPr>
                      <a:r>
                        <a:rPr lang="en-US" sz="1900" dirty="0">
                          <a:solidFill>
                            <a:srgbClr val="193B3B"/>
                          </a:solidFill>
                          <a:latin typeface="Arial Unicode MS" pitchFamily="34" charset="0"/>
                          <a:ea typeface="Arial Unicode MS" pitchFamily="34" charset="-122"/>
                          <a:cs typeface="Arial Unicode MS" pitchFamily="34" charset="-120"/>
                        </a:rPr>
                        <a:t>0.8474</a:t>
                      </a:r>
                      <a:endParaRPr lang="en-US" sz="19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bl>
          </a:graphicData>
        </a:graphic>
      </p:graphicFrame>
      <p:sp>
        <p:nvSpPr>
          <p:cNvPr id="7" name="Shape 4"/>
          <p:cNvSpPr/>
          <p:nvPr/>
        </p:nvSpPr>
        <p:spPr>
          <a:xfrm>
            <a:off x="777240" y="4023360"/>
            <a:ext cx="5029200" cy="1645920"/>
          </a:xfrm>
          <a:prstGeom prst="rect">
            <a:avLst/>
          </a:prstGeom>
          <a:solidFill>
            <a:srgbClr val="EDF3F3"/>
          </a:solidFill>
          <a:ln w="7620">
            <a:solidFill>
              <a:srgbClr val="EDF3F3"/>
            </a:solidFill>
            <a:prstDash val="solid"/>
          </a:ln>
        </p:spPr>
      </p:sp>
      <p:sp>
        <p:nvSpPr>
          <p:cNvPr id="8" name="Text 5"/>
          <p:cNvSpPr/>
          <p:nvPr/>
        </p:nvSpPr>
        <p:spPr>
          <a:xfrm>
            <a:off x="1005840" y="4206240"/>
            <a:ext cx="45720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정확도 상승</a:t>
            </a:r>
            <a:endParaRPr lang="en-US" sz="2200" dirty="0"/>
          </a:p>
        </p:txBody>
      </p:sp>
      <p:sp>
        <p:nvSpPr>
          <p:cNvPr id="9" name="Text 6"/>
          <p:cNvSpPr/>
          <p:nvPr/>
        </p:nvSpPr>
        <p:spPr>
          <a:xfrm>
            <a:off x="1005840" y="4892040"/>
            <a:ext cx="4572000" cy="61264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MIMIC  +6.21%p</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eICU      +6.11%p</a:t>
            </a:r>
            <a:endParaRPr lang="en-US" sz="1800" dirty="0"/>
          </a:p>
        </p:txBody>
      </p:sp>
      <p:sp>
        <p:nvSpPr>
          <p:cNvPr id="10" name="Shape 7"/>
          <p:cNvSpPr/>
          <p:nvPr/>
        </p:nvSpPr>
        <p:spPr>
          <a:xfrm>
            <a:off x="6309360" y="4023360"/>
            <a:ext cx="5029200" cy="1645920"/>
          </a:xfrm>
          <a:prstGeom prst="rect">
            <a:avLst/>
          </a:prstGeom>
          <a:solidFill>
            <a:srgbClr val="EDF3F3"/>
          </a:solidFill>
          <a:ln w="7620">
            <a:solidFill>
              <a:srgbClr val="EDF3F3"/>
            </a:solidFill>
            <a:prstDash val="solid"/>
          </a:ln>
        </p:spPr>
      </p:sp>
      <p:sp>
        <p:nvSpPr>
          <p:cNvPr id="11" name="Text 8"/>
          <p:cNvSpPr/>
          <p:nvPr/>
        </p:nvSpPr>
        <p:spPr>
          <a:xfrm>
            <a:off x="6537960" y="4206240"/>
            <a:ext cx="45720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특이도 하락</a:t>
            </a:r>
            <a:endParaRPr lang="en-US" sz="2200" dirty="0"/>
          </a:p>
        </p:txBody>
      </p:sp>
      <p:sp>
        <p:nvSpPr>
          <p:cNvPr id="12" name="Text 9"/>
          <p:cNvSpPr/>
          <p:nvPr/>
        </p:nvSpPr>
        <p:spPr>
          <a:xfrm>
            <a:off x="6537960" y="4892040"/>
            <a:ext cx="4572000" cy="61264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MIMIC   −4.69%p</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eICU     −10.43%p</a:t>
            </a:r>
            <a:endParaRPr lang="en-US" sz="1800" dirty="0"/>
          </a:p>
        </p:txBody>
      </p:sp>
      <p:sp>
        <p:nvSpPr>
          <p:cNvPr id="13" name="Text 10"/>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굵은 값: 적응 전후 중 높은 값. 감수성 민감도·F1은 두 자료 모두 상승. 판정 임계값 0.5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05  적응이 바꾼 것</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확률 손실은 낮아져도 AUROC가 함께 오르지는 않는다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18</a:t>
            </a:r>
            <a:endParaRPr lang="en-US" sz="1100" dirty="0"/>
          </a:p>
        </p:txBody>
      </p:sp>
      <p:graphicFrame>
        <p:nvGraphicFramePr>
          <p:cNvPr id="6" name="Chart 0" descr=""/>
          <p:cNvGraphicFramePr/>
          <p:nvPr/>
        </p:nvGraphicFramePr>
        <p:xfrm>
          <a:off x="640080" y="2148840"/>
          <a:ext cx="6309360" cy="36118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77240" y="1801368"/>
            <a:ext cx="6400800" cy="320040"/>
          </a:xfrm>
          <a:prstGeom prst="rect">
            <a:avLst/>
          </a:prstGeom>
          <a:noFill/>
          <a:ln/>
        </p:spPr>
        <p:txBody>
          <a:bodyPr wrap="square" lIns="0" tIns="0" rIns="0" bIns="0" rtlCol="0" anchor="ctr"/>
          <a:lstStyle/>
          <a:p>
            <a:pPr indent="0" marL="0">
              <a:buNone/>
            </a:pPr>
            <a:r>
              <a:rPr lang="en-US" sz="1400" b="1" dirty="0">
                <a:solidFill>
                  <a:srgbClr val="187D80"/>
                </a:solidFill>
                <a:latin typeface="Arial Unicode MS" pitchFamily="34" charset="0"/>
                <a:ea typeface="Arial Unicode MS" pitchFamily="34" charset="-122"/>
                <a:cs typeface="Arial Unicode MS" pitchFamily="34" charset="-120"/>
              </a:rPr>
              <a:t>CDLD query BCE · 낮을수록 좋음</a:t>
            </a:r>
            <a:endParaRPr lang="en-US" sz="1400" dirty="0"/>
          </a:p>
        </p:txBody>
      </p:sp>
      <p:sp>
        <p:nvSpPr>
          <p:cNvPr id="8" name="Shape 5"/>
          <p:cNvSpPr/>
          <p:nvPr/>
        </p:nvSpPr>
        <p:spPr>
          <a:xfrm>
            <a:off x="7360920" y="2212848"/>
            <a:ext cx="4114800" cy="3291840"/>
          </a:xfrm>
          <a:prstGeom prst="rect">
            <a:avLst/>
          </a:prstGeom>
          <a:solidFill>
            <a:srgbClr val="EDF3F3"/>
          </a:solidFill>
          <a:ln w="7620">
            <a:solidFill>
              <a:srgbClr val="EDF3F3"/>
            </a:solidFill>
            <a:prstDash val="solid"/>
          </a:ln>
        </p:spPr>
      </p:sp>
      <p:sp>
        <p:nvSpPr>
          <p:cNvPr id="9" name="Text 6"/>
          <p:cNvSpPr/>
          <p:nvPr/>
        </p:nvSpPr>
        <p:spPr>
          <a:xfrm>
            <a:off x="7589520" y="2395728"/>
            <a:ext cx="36576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학습 목표와 평가 질문</a:t>
            </a:r>
            <a:endParaRPr lang="en-US" sz="2200" dirty="0"/>
          </a:p>
        </p:txBody>
      </p:sp>
      <p:sp>
        <p:nvSpPr>
          <p:cNvPr id="10" name="Text 7"/>
          <p:cNvSpPr/>
          <p:nvPr/>
        </p:nvSpPr>
        <p:spPr>
          <a:xfrm>
            <a:off x="7589520" y="3081528"/>
            <a:ext cx="3657600" cy="225856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BCE: 정답에 부여한 확률의 손실</a:t>
            </a:r>
            <a:endParaRPr lang="en-US" sz="1800" dirty="0"/>
          </a:p>
          <a:p>
            <a:pPr indent="0" marL="0">
              <a:buNone/>
            </a:pP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AUROC: 두 클래스의 점수 순서</a:t>
            </a:r>
            <a:endParaRPr lang="en-US" sz="1800" dirty="0"/>
          </a:p>
          <a:p>
            <a:pPr indent="0" marL="0">
              <a:buNone/>
            </a:pP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0.5 분류: 기준선 어느 쪽인가</a:t>
            </a:r>
            <a:endParaRPr lang="en-US" sz="1800" dirty="0"/>
          </a:p>
        </p:txBody>
      </p:sp>
      <p:sp>
        <p:nvSpPr>
          <p:cNvPr id="11" name="Text 8"/>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x축: 목표약 support 수. BCE는 확률 손실의 보조 지표로 제시</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05  적응 효과 비교</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같은 support 증가에도 CDLD와 MF는 다르게 변했다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881360" cy="914400"/>
        </p:xfrm>
        <a:graphic>
          <a:graphicData uri="http://schemas.openxmlformats.org/drawingml/2006/table">
            <a:tbl>
              <a:tblPr/>
              <a:tblGrid>
                <a:gridCol w="1371600"/>
                <a:gridCol w="1280160"/>
                <a:gridCol w="2057400"/>
                <a:gridCol w="2057400"/>
                <a:gridCol w="2057400"/>
                <a:gridCol w="2057400"/>
              </a:tblGrid>
              <a:tr h="548640">
                <a:tc>
                  <a:txBody>
                    <a:bodyPr/>
                    <a:lstStyle/>
                    <a:p>
                      <a:pPr indent="0" marL="0">
                        <a:buNone/>
                      </a:pPr>
                      <a:r>
                        <a:rPr lang="en-US" sz="2000" b="1" dirty="0">
                          <a:solidFill>
                            <a:srgbClr val="FFFFFF"/>
                          </a:solidFill>
                          <a:latin typeface="Arial Unicode MS" pitchFamily="34" charset="0"/>
                          <a:ea typeface="Arial Unicode MS" pitchFamily="34" charset="-122"/>
                          <a:cs typeface="Arial Unicode MS" pitchFamily="34" charset="-120"/>
                        </a:rPr>
                        <a:t>자료</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2000" b="1" dirty="0">
                          <a:solidFill>
                            <a:srgbClr val="FFFFFF"/>
                          </a:solidFill>
                          <a:latin typeface="Arial Unicode MS" pitchFamily="34" charset="0"/>
                          <a:ea typeface="Arial Unicode MS" pitchFamily="34" charset="-122"/>
                          <a:cs typeface="Arial Unicode MS" pitchFamily="34" charset="-120"/>
                        </a:rPr>
                        <a:t>방법</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2000" b="1" dirty="0">
                          <a:solidFill>
                            <a:srgbClr val="FFFFFF"/>
                          </a:solidFill>
                          <a:latin typeface="Arial Unicode MS" pitchFamily="34" charset="0"/>
                          <a:ea typeface="Arial Unicode MS" pitchFamily="34" charset="-122"/>
                          <a:cs typeface="Arial Unicode MS" pitchFamily="34" charset="-120"/>
                        </a:rPr>
                        <a:t>AUROC 변화</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2000" b="1" dirty="0">
                          <a:solidFill>
                            <a:srgbClr val="FFFFFF"/>
                          </a:solidFill>
                          <a:latin typeface="Arial Unicode MS" pitchFamily="34" charset="0"/>
                          <a:ea typeface="Arial Unicode MS" pitchFamily="34" charset="-122"/>
                          <a:cs typeface="Arial Unicode MS" pitchFamily="34" charset="-120"/>
                        </a:rPr>
                        <a:t>정확도 (%p)</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2000" b="1" dirty="0">
                          <a:solidFill>
                            <a:srgbClr val="FFFFFF"/>
                          </a:solidFill>
                          <a:latin typeface="Arial Unicode MS" pitchFamily="34" charset="0"/>
                          <a:ea typeface="Arial Unicode MS" pitchFamily="34" charset="-122"/>
                          <a:cs typeface="Arial Unicode MS" pitchFamily="34" charset="-120"/>
                        </a:rPr>
                        <a:t>민감도 (%p)</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c>
                  <a:txBody>
                    <a:bodyPr/>
                    <a:lstStyle/>
                    <a:p>
                      <a:pPr indent="0" marL="0">
                        <a:buNone/>
                      </a:pPr>
                      <a:r>
                        <a:rPr lang="en-US" sz="2000" b="1" dirty="0">
                          <a:solidFill>
                            <a:srgbClr val="FFFFFF"/>
                          </a:solidFill>
                          <a:latin typeface="Arial Unicode MS" pitchFamily="34" charset="0"/>
                          <a:ea typeface="Arial Unicode MS" pitchFamily="34" charset="-122"/>
                          <a:cs typeface="Arial Unicode MS" pitchFamily="34" charset="-120"/>
                        </a:rPr>
                        <a:t>특이도 (%p)</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193B3B"/>
                    </a:solidFill>
                  </a:tcPr>
                </a:tc>
              </a:tr>
              <a:tr h="548640">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MIMIC</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CDLD</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−0.0030</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+6.21</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+2.19</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−4.69</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548640">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MIMIC</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MF</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+0.0528</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+12.43</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−6.00</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+52.86</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548640">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eICU</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CDLD</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−0.0093</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+6.11</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+2.21</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−10.43</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r h="548640">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eICU</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MF</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+0.0310</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+5.01</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−7.70</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c>
                  <a:txBody>
                    <a:bodyPr/>
                    <a:lstStyle/>
                    <a:p>
                      <a:pPr indent="0" marL="0">
                        <a:buNone/>
                      </a:pPr>
                      <a:r>
                        <a:rPr lang="en-US" sz="2000" dirty="0">
                          <a:solidFill>
                            <a:srgbClr val="193B3B"/>
                          </a:solidFill>
                          <a:latin typeface="Arial Unicode MS" pitchFamily="34" charset="0"/>
                          <a:ea typeface="Arial Unicode MS" pitchFamily="34" charset="-122"/>
                          <a:cs typeface="Arial Unicode MS" pitchFamily="34" charset="-120"/>
                        </a:rPr>
                        <a:t>+46.09</a:t>
                      </a:r>
                      <a:endParaRPr lang="en-US" sz="2000" dirty="0">
                        <a:latin typeface="Arial Unicode MS" charset="0"/>
                        <a:ea typeface="Arial Unicode MS" charset="0"/>
                        <a:cs typeface="Arial Unicode MS" charset="0"/>
                      </a:endParaRPr>
                    </a:p>
                  </a:txBody>
                  <a:tcPr marL="64008" marR="64008" marT="64008" marB="64008">
                    <a:lnL w="6350" cap="flat" cmpd="sng" algn="ctr">
                      <a:solidFill>
                        <a:srgbClr val="E1E7E7"/>
                      </a:solidFill>
                      <a:prstDash val="solid"/>
                      <a:round/>
                      <a:headEnd type="none" w="med" len="med"/>
                      <a:tailEnd type="none" w="med" len="med"/>
                    </a:lnL>
                    <a:lnR w="6350" cap="flat" cmpd="sng" algn="ctr">
                      <a:solidFill>
                        <a:srgbClr val="E1E7E7"/>
                      </a:solidFill>
                      <a:prstDash val="solid"/>
                      <a:round/>
                      <a:headEnd type="none" w="med" len="med"/>
                      <a:tailEnd type="none" w="med" len="med"/>
                    </a:lnR>
                    <a:lnT w="6350" cap="flat" cmpd="sng" algn="ctr">
                      <a:solidFill>
                        <a:srgbClr val="E1E7E7"/>
                      </a:solidFill>
                      <a:prstDash val="solid"/>
                      <a:round/>
                      <a:headEnd type="none" w="med" len="med"/>
                      <a:tailEnd type="none" w="med" len="med"/>
                    </a:lnT>
                    <a:lnB w="6350" cap="flat" cmpd="sng" algn="ctr">
                      <a:solidFill>
                        <a:srgbClr val="E1E7E7"/>
                      </a:solidFill>
                      <a:prstDash val="solid"/>
                      <a:round/>
                      <a:headEnd type="none" w="med" len="med"/>
                      <a:tailEnd type="none" w="med" len="med"/>
                    </a:lnB>
                    <a:solidFill>
                      <a:srgbClr val="FFFFFF"/>
                    </a:solidFill>
                  </a:tcPr>
                </a:tc>
              </a:tr>
            </a:tbl>
          </a:graphicData>
        </a:graphic>
      </p:graphicFrame>
      <p:sp>
        <p:nvSpPr>
          <p:cNvPr id="7" name="Text 4"/>
          <p:cNvSpPr/>
          <p:nvPr/>
        </p:nvSpPr>
        <p:spPr>
          <a:xfrm>
            <a:off x="777240" y="4892040"/>
            <a:ext cx="10698480" cy="365760"/>
          </a:xfrm>
          <a:prstGeom prst="rect">
            <a:avLst/>
          </a:prstGeom>
          <a:noFill/>
          <a:ln/>
        </p:spPr>
        <p:txBody>
          <a:bodyPr wrap="square" lIns="0" tIns="0" rIns="0" bIns="0" rtlCol="0" anchor="ctr"/>
          <a:lstStyle/>
          <a:p>
            <a:pPr indent="0" marL="0">
              <a:buNone/>
            </a:pPr>
            <a:r>
              <a:rPr lang="en-US" sz="2200" b="1" dirty="0">
                <a:solidFill>
                  <a:srgbClr val="187D80"/>
                </a:solidFill>
                <a:latin typeface="Arial Unicode MS" pitchFamily="34" charset="0"/>
                <a:ea typeface="Arial Unicode MS" pitchFamily="34" charset="-122"/>
                <a:cs typeface="Arial Unicode MS" pitchFamily="34" charset="-120"/>
              </a:rPr>
              <a:t>CDLD: 감수성 검출 ↑ / 비감수성 검출 ↓</a:t>
            </a:r>
            <a:endParaRPr lang="en-US" sz="2200" dirty="0"/>
          </a:p>
        </p:txBody>
      </p:sp>
      <p:sp>
        <p:nvSpPr>
          <p:cNvPr id="8" name="Text 5"/>
          <p:cNvSpPr/>
          <p:nvPr/>
        </p:nvSpPr>
        <p:spPr>
          <a:xfrm>
            <a:off x="777240" y="5413248"/>
            <a:ext cx="10698480" cy="365760"/>
          </a:xfrm>
          <a:prstGeom prst="rect">
            <a:avLst/>
          </a:prstGeom>
          <a:noFill/>
          <a:ln/>
        </p:spPr>
        <p:txBody>
          <a:bodyPr wrap="square" lIns="0" tIns="0" rIns="0" bIns="0" rtlCol="0" anchor="ctr"/>
          <a:lstStyle/>
          <a:p>
            <a:pPr indent="0" marL="0">
              <a:buNone/>
            </a:pPr>
            <a:r>
              <a:rPr lang="en-US" sz="2200" b="1" dirty="0">
                <a:solidFill>
                  <a:srgbClr val="B45E38"/>
                </a:solidFill>
                <a:latin typeface="Arial Unicode MS" pitchFamily="34" charset="0"/>
                <a:ea typeface="Arial Unicode MS" pitchFamily="34" charset="-122"/>
                <a:cs typeface="Arial Unicode MS" pitchFamily="34" charset="-120"/>
              </a:rPr>
              <a:t>MF: 감수성 검출 ↓ / 비감수성 검출 ↑</a:t>
            </a:r>
            <a:endParaRPr lang="en-US" sz="2200" dirty="0"/>
          </a:p>
        </p:txBody>
      </p:sp>
      <p:sp>
        <p:nvSpPr>
          <p:cNvPr id="9" name="Text 6"/>
          <p:cNvSpPr/>
          <p:nvPr/>
        </p:nvSpPr>
        <p:spPr>
          <a:xfrm>
            <a:off x="594360" y="6007608"/>
            <a:ext cx="10972800" cy="274320"/>
          </a:xfrm>
          <a:prstGeom prst="rect">
            <a:avLst/>
          </a:prstGeom>
          <a:noFill/>
          <a:ln/>
        </p:spPr>
        <p:txBody>
          <a:bodyPr wrap="square" lIns="0" tIns="0" rIns="0" bIns="0" rtlCol="0" anchor="ctr"/>
          <a:lstStyle/>
          <a:p>
            <a:pPr indent="0" marL="0">
              <a:buNone/>
            </a:pPr>
            <a:r>
              <a:rPr lang="en-US" sz="1100" dirty="0">
                <a:solidFill>
                  <a:srgbClr val="66747A"/>
                </a:solidFill>
                <a:latin typeface="Arial Unicode MS" pitchFamily="34" charset="0"/>
                <a:ea typeface="Arial Unicode MS" pitchFamily="34" charset="-122"/>
                <a:cs typeface="Arial Unicode MS" pitchFamily="34" charset="-120"/>
              </a:rPr>
              <a:t>support 0 → 50 변화. AUROC는 원래 척도, 나머지 지표는 퍼센트포인트 차이</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06  적용 범위</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이 결과를 실제 사용으로 연결하려면 무엇을 확인해야 할까?</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20</a:t>
            </a:r>
            <a:endParaRPr lang="en-US" sz="1100" dirty="0"/>
          </a:p>
        </p:txBody>
      </p:sp>
      <p:sp>
        <p:nvSpPr>
          <p:cNvPr id="6" name="Shape 4"/>
          <p:cNvSpPr/>
          <p:nvPr/>
        </p:nvSpPr>
        <p:spPr>
          <a:xfrm>
            <a:off x="640080" y="2194560"/>
            <a:ext cx="3520440" cy="3200400"/>
          </a:xfrm>
          <a:prstGeom prst="rect">
            <a:avLst/>
          </a:prstGeom>
          <a:solidFill>
            <a:srgbClr val="EDF3F3"/>
          </a:solidFill>
          <a:ln w="7620">
            <a:solidFill>
              <a:srgbClr val="EDF3F3"/>
            </a:solidFill>
            <a:prstDash val="solid"/>
          </a:ln>
        </p:spPr>
      </p:sp>
      <p:sp>
        <p:nvSpPr>
          <p:cNvPr id="7" name="Text 5"/>
          <p:cNvSpPr/>
          <p:nvPr/>
        </p:nvSpPr>
        <p:spPr>
          <a:xfrm>
            <a:off x="868680" y="2377440"/>
            <a:ext cx="306324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관측 환경</a:t>
            </a:r>
            <a:endParaRPr lang="en-US" sz="2200" dirty="0"/>
          </a:p>
        </p:txBody>
      </p:sp>
      <p:sp>
        <p:nvSpPr>
          <p:cNvPr id="8" name="Text 6"/>
          <p:cNvSpPr/>
          <p:nvPr/>
        </p:nvSpPr>
        <p:spPr>
          <a:xfrm>
            <a:off x="868680" y="3063240"/>
            <a:ext cx="3063240" cy="216712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기존약 4개를 허용한 후향적 평가</a:t>
            </a:r>
            <a:endParaRPr lang="en-US" sz="1800" dirty="0"/>
          </a:p>
          <a:p>
            <a:pPr indent="0" marL="0">
              <a:buNone/>
            </a:pP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실제 검사 순서·보고 시점에서</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같은 입력을 얻을 수 있는지 확인</a:t>
            </a:r>
            <a:endParaRPr lang="en-US" sz="1800" dirty="0"/>
          </a:p>
        </p:txBody>
      </p:sp>
      <p:sp>
        <p:nvSpPr>
          <p:cNvPr id="9" name="Shape 7"/>
          <p:cNvSpPr/>
          <p:nvPr/>
        </p:nvSpPr>
        <p:spPr>
          <a:xfrm>
            <a:off x="4343400" y="2194560"/>
            <a:ext cx="3520440" cy="3200400"/>
          </a:xfrm>
          <a:prstGeom prst="rect">
            <a:avLst/>
          </a:prstGeom>
          <a:solidFill>
            <a:srgbClr val="EDF3F3"/>
          </a:solidFill>
          <a:ln w="7620">
            <a:solidFill>
              <a:srgbClr val="EDF3F3"/>
            </a:solidFill>
            <a:prstDash val="solid"/>
          </a:ln>
        </p:spPr>
      </p:sp>
      <p:sp>
        <p:nvSpPr>
          <p:cNvPr id="10" name="Text 8"/>
          <p:cNvSpPr/>
          <p:nvPr/>
        </p:nvSpPr>
        <p:spPr>
          <a:xfrm>
            <a:off x="4572000" y="2377440"/>
            <a:ext cx="306324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외부 표본</a:t>
            </a:r>
            <a:endParaRPr lang="en-US" sz="2200" dirty="0"/>
          </a:p>
        </p:txBody>
      </p:sp>
      <p:sp>
        <p:nvSpPr>
          <p:cNvPr id="11" name="Text 9"/>
          <p:cNvSpPr/>
          <p:nvPr/>
        </p:nvSpPr>
        <p:spPr>
          <a:xfrm>
            <a:off x="4572000" y="3063240"/>
            <a:ext cx="3063240" cy="216712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eICU 155명 · 218 사례</a:t>
            </a:r>
            <a:endParaRPr lang="en-US" sz="1800" dirty="0"/>
          </a:p>
          <a:p>
            <a:pPr indent="0" marL="0">
              <a:buNone/>
            </a:pP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AUROC 가능 26조합 중 5개는</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비감수성 사례가 1개</a:t>
            </a:r>
            <a:endParaRPr lang="en-US" sz="1800" dirty="0"/>
          </a:p>
        </p:txBody>
      </p:sp>
      <p:sp>
        <p:nvSpPr>
          <p:cNvPr id="12" name="Shape 10"/>
          <p:cNvSpPr/>
          <p:nvPr/>
        </p:nvSpPr>
        <p:spPr>
          <a:xfrm>
            <a:off x="8046720" y="2194560"/>
            <a:ext cx="3520440" cy="3200400"/>
          </a:xfrm>
          <a:prstGeom prst="rect">
            <a:avLst/>
          </a:prstGeom>
          <a:solidFill>
            <a:srgbClr val="EDF3F3"/>
          </a:solidFill>
          <a:ln w="7620">
            <a:solidFill>
              <a:srgbClr val="EDF3F3"/>
            </a:solidFill>
            <a:prstDash val="solid"/>
          </a:ln>
        </p:spPr>
      </p:sp>
      <p:sp>
        <p:nvSpPr>
          <p:cNvPr id="13" name="Text 11"/>
          <p:cNvSpPr/>
          <p:nvPr/>
        </p:nvSpPr>
        <p:spPr>
          <a:xfrm>
            <a:off x="8275320" y="2377440"/>
            <a:ext cx="306324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결과의 정밀도</a:t>
            </a:r>
            <a:endParaRPr lang="en-US" sz="2200" dirty="0"/>
          </a:p>
        </p:txBody>
      </p:sp>
      <p:sp>
        <p:nvSpPr>
          <p:cNvPr id="14" name="Text 12"/>
          <p:cNvSpPr/>
          <p:nvPr/>
        </p:nvSpPr>
        <p:spPr>
          <a:xfrm>
            <a:off x="8275320" y="3063240"/>
            <a:ext cx="3063240" cy="216712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조합 동일가중 점추정 비교</a:t>
            </a:r>
            <a:endParaRPr lang="en-US" sz="1800" dirty="0"/>
          </a:p>
          <a:p>
            <a:pPr indent="0" marL="0">
              <a:buNone/>
            </a:pP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환자 단위 신뢰구간 미산출</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개발 중 평가 결과 반복 검토</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93B3B"/>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9EC9C7"/>
                </a:solidFill>
                <a:latin typeface="Arial Unicode MS" pitchFamily="34" charset="0"/>
                <a:ea typeface="Arial Unicode MS" pitchFamily="34" charset="-122"/>
                <a:cs typeface="Arial Unicode MS" pitchFamily="34" charset="-120"/>
              </a:rPr>
              <a:t>CONCLUSION</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FFFFFF"/>
                </a:solidFill>
                <a:latin typeface="Arial Unicode MS" pitchFamily="34" charset="0"/>
                <a:ea typeface="Arial Unicode MS" pitchFamily="34" charset="-122"/>
                <a:cs typeface="Arial Unicode MS" pitchFamily="34" charset="-120"/>
              </a:rPr>
              <a:t>CDLD의 신규약 적응: 가능성과 지표별 효과를 함께 확인했다</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9EC9C7"/>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9EC9C7"/>
                </a:solidFill>
                <a:latin typeface="Arial Unicode MS" pitchFamily="34" charset="0"/>
                <a:ea typeface="Arial Unicode MS" pitchFamily="34" charset="-122"/>
                <a:cs typeface="Arial Unicode MS" pitchFamily="34" charset="-120"/>
              </a:rPr>
              <a:t>21</a:t>
            </a:r>
            <a:endParaRPr lang="en-US" sz="1100" dirty="0"/>
          </a:p>
        </p:txBody>
      </p:sp>
      <p:sp>
        <p:nvSpPr>
          <p:cNvPr id="6" name="Text 4"/>
          <p:cNvSpPr/>
          <p:nvPr/>
        </p:nvSpPr>
        <p:spPr>
          <a:xfrm>
            <a:off x="731520" y="2331720"/>
            <a:ext cx="685800" cy="594360"/>
          </a:xfrm>
          <a:prstGeom prst="rect">
            <a:avLst/>
          </a:prstGeom>
          <a:noFill/>
          <a:ln/>
        </p:spPr>
        <p:txBody>
          <a:bodyPr wrap="square" lIns="0" tIns="0" rIns="0" bIns="0" rtlCol="0" anchor="ctr"/>
          <a:lstStyle/>
          <a:p>
            <a:pPr indent="0" marL="0">
              <a:buNone/>
            </a:pPr>
            <a:r>
              <a:rPr lang="en-US" sz="3100" b="1" dirty="0">
                <a:solidFill>
                  <a:srgbClr val="8CC5BE"/>
                </a:solidFill>
                <a:latin typeface="Arial Unicode MS" pitchFamily="34" charset="0"/>
                <a:ea typeface="Arial Unicode MS" pitchFamily="34" charset="-122"/>
                <a:cs typeface="Arial Unicode MS" pitchFamily="34" charset="-120"/>
              </a:rPr>
              <a:t>01</a:t>
            </a:r>
            <a:endParaRPr lang="en-US" sz="3100" dirty="0"/>
          </a:p>
        </p:txBody>
      </p:sp>
      <p:sp>
        <p:nvSpPr>
          <p:cNvPr id="7" name="Text 5"/>
          <p:cNvSpPr/>
          <p:nvPr/>
        </p:nvSpPr>
        <p:spPr>
          <a:xfrm>
            <a:off x="1737360" y="2331720"/>
            <a:ext cx="9601200" cy="594360"/>
          </a:xfrm>
          <a:prstGeom prst="rect">
            <a:avLst/>
          </a:prstGeom>
          <a:noFill/>
          <a:ln/>
        </p:spPr>
        <p:txBody>
          <a:bodyPr wrap="square" lIns="0" tIns="0" rIns="0" bIns="0" rtlCol="0" anchor="ctr"/>
          <a:lstStyle/>
          <a:p>
            <a:pPr indent="0" marL="0">
              <a:buNone/>
            </a:pPr>
            <a:r>
              <a:rPr lang="en-US" sz="2300" b="1" dirty="0">
                <a:solidFill>
                  <a:srgbClr val="FFFFFF"/>
                </a:solidFill>
                <a:latin typeface="Arial Unicode MS" pitchFamily="34" charset="0"/>
                <a:ea typeface="Arial Unicode MS" pitchFamily="34" charset="-122"/>
                <a:cs typeface="Arial Unicode MS" pitchFamily="34" charset="-120"/>
              </a:rPr>
              <a:t>새 목표약에 소수 관측으로 적응하고 외부 자료에 적용했다</a:t>
            </a:r>
            <a:endParaRPr lang="en-US" sz="2300" dirty="0"/>
          </a:p>
        </p:txBody>
      </p:sp>
      <p:sp>
        <p:nvSpPr>
          <p:cNvPr id="8" name="Text 6"/>
          <p:cNvSpPr/>
          <p:nvPr/>
        </p:nvSpPr>
        <p:spPr>
          <a:xfrm>
            <a:off x="731520" y="3310128"/>
            <a:ext cx="685800" cy="594360"/>
          </a:xfrm>
          <a:prstGeom prst="rect">
            <a:avLst/>
          </a:prstGeom>
          <a:noFill/>
          <a:ln/>
        </p:spPr>
        <p:txBody>
          <a:bodyPr wrap="square" lIns="0" tIns="0" rIns="0" bIns="0" rtlCol="0" anchor="ctr"/>
          <a:lstStyle/>
          <a:p>
            <a:pPr indent="0" marL="0">
              <a:buNone/>
            </a:pPr>
            <a:r>
              <a:rPr lang="en-US" sz="3100" b="1" dirty="0">
                <a:solidFill>
                  <a:srgbClr val="8CC5BE"/>
                </a:solidFill>
                <a:latin typeface="Arial Unicode MS" pitchFamily="34" charset="0"/>
                <a:ea typeface="Arial Unicode MS" pitchFamily="34" charset="-122"/>
                <a:cs typeface="Arial Unicode MS" pitchFamily="34" charset="-120"/>
              </a:rPr>
              <a:t>02</a:t>
            </a:r>
            <a:endParaRPr lang="en-US" sz="3100" dirty="0"/>
          </a:p>
        </p:txBody>
      </p:sp>
      <p:sp>
        <p:nvSpPr>
          <p:cNvPr id="9" name="Text 7"/>
          <p:cNvSpPr/>
          <p:nvPr/>
        </p:nvSpPr>
        <p:spPr>
          <a:xfrm>
            <a:off x="1737360" y="3310128"/>
            <a:ext cx="9601200" cy="594360"/>
          </a:xfrm>
          <a:prstGeom prst="rect">
            <a:avLst/>
          </a:prstGeom>
          <a:noFill/>
          <a:ln/>
        </p:spPr>
        <p:txBody>
          <a:bodyPr wrap="square" lIns="0" tIns="0" rIns="0" bIns="0" rtlCol="0" anchor="ctr"/>
          <a:lstStyle/>
          <a:p>
            <a:pPr indent="0" marL="0">
              <a:buNone/>
            </a:pPr>
            <a:r>
              <a:rPr lang="en-US" sz="2300" b="1" dirty="0">
                <a:solidFill>
                  <a:srgbClr val="FFFFFF"/>
                </a:solidFill>
                <a:latin typeface="Arial Unicode MS" pitchFamily="34" charset="0"/>
                <a:ea typeface="Arial Unicode MS" pitchFamily="34" charset="-122"/>
                <a:cs typeface="Arial Unicode MS" pitchFamily="34" charset="-120"/>
              </a:rPr>
              <a:t>전체 방법의 상대 성능은 자료·관측 수·지표에 따라 달랐다</a:t>
            </a:r>
            <a:endParaRPr lang="en-US" sz="2300" dirty="0"/>
          </a:p>
        </p:txBody>
      </p:sp>
      <p:sp>
        <p:nvSpPr>
          <p:cNvPr id="10" name="Text 8"/>
          <p:cNvSpPr/>
          <p:nvPr/>
        </p:nvSpPr>
        <p:spPr>
          <a:xfrm>
            <a:off x="731520" y="4288536"/>
            <a:ext cx="685800" cy="594360"/>
          </a:xfrm>
          <a:prstGeom prst="rect">
            <a:avLst/>
          </a:prstGeom>
          <a:noFill/>
          <a:ln/>
        </p:spPr>
        <p:txBody>
          <a:bodyPr wrap="square" lIns="0" tIns="0" rIns="0" bIns="0" rtlCol="0" anchor="ctr"/>
          <a:lstStyle/>
          <a:p>
            <a:pPr indent="0" marL="0">
              <a:buNone/>
            </a:pPr>
            <a:r>
              <a:rPr lang="en-US" sz="3100" b="1" dirty="0">
                <a:solidFill>
                  <a:srgbClr val="8CC5BE"/>
                </a:solidFill>
                <a:latin typeface="Arial Unicode MS" pitchFamily="34" charset="0"/>
                <a:ea typeface="Arial Unicode MS" pitchFamily="34" charset="-122"/>
                <a:cs typeface="Arial Unicode MS" pitchFamily="34" charset="-120"/>
              </a:rPr>
              <a:t>03</a:t>
            </a:r>
            <a:endParaRPr lang="en-US" sz="3100" dirty="0"/>
          </a:p>
        </p:txBody>
      </p:sp>
      <p:sp>
        <p:nvSpPr>
          <p:cNvPr id="11" name="Text 9"/>
          <p:cNvSpPr/>
          <p:nvPr/>
        </p:nvSpPr>
        <p:spPr>
          <a:xfrm>
            <a:off x="1737360" y="4288536"/>
            <a:ext cx="9601200" cy="594360"/>
          </a:xfrm>
          <a:prstGeom prst="rect">
            <a:avLst/>
          </a:prstGeom>
          <a:noFill/>
          <a:ln/>
        </p:spPr>
        <p:txBody>
          <a:bodyPr wrap="square" lIns="0" tIns="0" rIns="0" bIns="0" rtlCol="0" anchor="ctr"/>
          <a:lstStyle/>
          <a:p>
            <a:pPr indent="0" marL="0">
              <a:buNone/>
            </a:pPr>
            <a:r>
              <a:rPr lang="en-US" sz="2300" b="1" dirty="0">
                <a:solidFill>
                  <a:srgbClr val="FFFFFF"/>
                </a:solidFill>
                <a:latin typeface="Arial Unicode MS" pitchFamily="34" charset="0"/>
                <a:ea typeface="Arial Unicode MS" pitchFamily="34" charset="-122"/>
                <a:cs typeface="Arial Unicode MS" pitchFamily="34" charset="-120"/>
              </a:rPr>
              <a:t>CDLD 적응은 정확도·F1·확률 손실을 개선했다</a:t>
            </a:r>
            <a:endParaRPr lang="en-US" sz="2300" dirty="0"/>
          </a:p>
        </p:txBody>
      </p:sp>
      <p:sp>
        <p:nvSpPr>
          <p:cNvPr id="12" name="Text 10"/>
          <p:cNvSpPr/>
          <p:nvPr/>
        </p:nvSpPr>
        <p:spPr>
          <a:xfrm>
            <a:off x="777240" y="5742432"/>
            <a:ext cx="10607040" cy="365760"/>
          </a:xfrm>
          <a:prstGeom prst="rect">
            <a:avLst/>
          </a:prstGeom>
          <a:noFill/>
          <a:ln/>
        </p:spPr>
        <p:txBody>
          <a:bodyPr wrap="square" lIns="0" tIns="0" rIns="0" bIns="0" rtlCol="0" anchor="ctr"/>
          <a:lstStyle/>
          <a:p>
            <a:pPr indent="0" marL="0">
              <a:buNone/>
            </a:pPr>
            <a:r>
              <a:rPr lang="en-US" sz="1700" dirty="0">
                <a:solidFill>
                  <a:srgbClr val="B7D5D3"/>
                </a:solidFill>
                <a:latin typeface="Arial Unicode MS" pitchFamily="34" charset="0"/>
                <a:ea typeface="Arial Unicode MS" pitchFamily="34" charset="-122"/>
                <a:cs typeface="Arial Unicode MS" pitchFamily="34" charset="-120"/>
              </a:rPr>
              <a:t>동시에 AUROC·특이도는 감소했다 — 판별력과 두 클래스의 검출을 함께 평가</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200" dirty="0">
                <a:solidFill>
                  <a:srgbClr val="66747A"/>
                </a:solidFill>
                <a:latin typeface="Arial Unicode MS" pitchFamily="34" charset="0"/>
                <a:ea typeface="Arial Unicode MS" pitchFamily="34" charset="-122"/>
                <a:cs typeface="Arial Unicode MS" pitchFamily="34" charset="-120"/>
              </a:rPr>
              <a:t>APPENDIX  ·  재현과 참고</a:t>
            </a:r>
            <a:endParaRPr lang="en-US" sz="1200" dirty="0"/>
          </a:p>
        </p:txBody>
      </p:sp>
      <p:sp>
        <p:nvSpPr>
          <p:cNvPr id="3" name="Text 1"/>
          <p:cNvSpPr/>
          <p:nvPr/>
        </p:nvSpPr>
        <p:spPr>
          <a:xfrm>
            <a:off x="548640" y="822960"/>
            <a:ext cx="11064240" cy="941832"/>
          </a:xfrm>
          <a:prstGeom prst="rect">
            <a:avLst/>
          </a:prstGeom>
          <a:noFill/>
          <a:ln/>
        </p:spPr>
        <p:txBody>
          <a:bodyPr wrap="square" lIns="0" tIns="0" rIns="0" bIns="0" rtlCol="0" anchor="ctr"/>
          <a:lstStyle/>
          <a:p>
            <a:pPr indent="0" marL="0">
              <a:buNone/>
            </a:pPr>
            <a:r>
              <a:rPr lang="en-US" sz="3000" b="1" dirty="0">
                <a:solidFill>
                  <a:srgbClr val="193B3B"/>
                </a:solidFill>
                <a:latin typeface="Arial Unicode MS" pitchFamily="34" charset="0"/>
                <a:ea typeface="Arial Unicode MS" pitchFamily="34" charset="-122"/>
                <a:cs typeface="Arial Unicode MS" pitchFamily="34" charset="-120"/>
              </a:rPr>
              <a:t>실험 설정과 자료 출처</a:t>
            </a:r>
            <a:endParaRPr lang="en-US" sz="3000" dirty="0"/>
          </a:p>
        </p:txBody>
      </p:sp>
      <p:sp>
        <p:nvSpPr>
          <p:cNvPr id="4" name="Text 2"/>
          <p:cNvSpPr/>
          <p:nvPr/>
        </p:nvSpPr>
        <p:spPr>
          <a:xfrm>
            <a:off x="548640" y="6419088"/>
            <a:ext cx="7315200" cy="201168"/>
          </a:xfrm>
          <a:prstGeom prst="rect">
            <a:avLst/>
          </a:prstGeom>
          <a:noFill/>
          <a:ln/>
        </p:spPr>
        <p:txBody>
          <a:bodyPr wrap="square" lIns="0" tIns="0" rIns="0" bIns="0" rtlCol="0" anchor="ctr"/>
          <a:lstStyle/>
          <a:p>
            <a:pPr indent="0" marL="0">
              <a:buNone/>
            </a:pPr>
            <a:r>
              <a:rPr lang="en-US" sz="1000" dirty="0">
                <a:solidFill>
                  <a:srgbClr val="66747A"/>
                </a:solidFill>
                <a:latin typeface="Arial Unicode MS" pitchFamily="34" charset="0"/>
                <a:ea typeface="Arial Unicode MS" pitchFamily="34" charset="-122"/>
                <a:cs typeface="Arial Unicode MS" pitchFamily="34" charset="-120"/>
              </a:rPr>
              <a:t>CDLD–AST</a:t>
            </a:r>
            <a:endParaRPr lang="en-US" sz="1000" dirty="0"/>
          </a:p>
        </p:txBody>
      </p:sp>
      <p:sp>
        <p:nvSpPr>
          <p:cNvPr id="5" name="Text 3"/>
          <p:cNvSpPr/>
          <p:nvPr/>
        </p:nvSpPr>
        <p:spPr>
          <a:xfrm>
            <a:off x="11064240" y="6400800"/>
            <a:ext cx="548640" cy="228600"/>
          </a:xfrm>
          <a:prstGeom prst="rect">
            <a:avLst/>
          </a:prstGeom>
          <a:noFill/>
          <a:ln/>
        </p:spPr>
        <p:txBody>
          <a:bodyPr wrap="square" lIns="0" tIns="0" rIns="0" bIns="0" rtlCol="0" anchor="ctr"/>
          <a:lstStyle/>
          <a:p>
            <a:pPr algn="r" indent="0" marL="0">
              <a:buNone/>
            </a:pPr>
            <a:r>
              <a:rPr lang="en-US" sz="1100" dirty="0">
                <a:solidFill>
                  <a:srgbClr val="66747A"/>
                </a:solidFill>
                <a:latin typeface="Arial Unicode MS" pitchFamily="34" charset="0"/>
                <a:ea typeface="Arial Unicode MS" pitchFamily="34" charset="-122"/>
                <a:cs typeface="Arial Unicode MS" pitchFamily="34" charset="-120"/>
              </a:rPr>
              <a:t>22</a:t>
            </a:r>
            <a:endParaRPr lang="en-US" sz="1100" dirty="0"/>
          </a:p>
        </p:txBody>
      </p:sp>
      <p:sp>
        <p:nvSpPr>
          <p:cNvPr id="6" name="Shape 4"/>
          <p:cNvSpPr/>
          <p:nvPr/>
        </p:nvSpPr>
        <p:spPr>
          <a:xfrm>
            <a:off x="640080" y="2011680"/>
            <a:ext cx="5257800" cy="3611880"/>
          </a:xfrm>
          <a:prstGeom prst="rect">
            <a:avLst/>
          </a:prstGeom>
          <a:solidFill>
            <a:srgbClr val="EDF3F3"/>
          </a:solidFill>
          <a:ln w="7620">
            <a:solidFill>
              <a:srgbClr val="EDF3F3"/>
            </a:solidFill>
            <a:prstDash val="solid"/>
          </a:ln>
        </p:spPr>
      </p:sp>
      <p:sp>
        <p:nvSpPr>
          <p:cNvPr id="7" name="Text 5"/>
          <p:cNvSpPr/>
          <p:nvPr/>
        </p:nvSpPr>
        <p:spPr>
          <a:xfrm>
            <a:off x="868680" y="2194560"/>
            <a:ext cx="4800600" cy="502920"/>
          </a:xfrm>
          <a:prstGeom prst="rect">
            <a:avLst/>
          </a:prstGeom>
          <a:noFill/>
          <a:ln/>
        </p:spPr>
        <p:txBody>
          <a:bodyPr wrap="square" lIns="0" tIns="0" rIns="0" bIns="0" rtlCol="0" anchor="ctr"/>
          <a:lstStyle/>
          <a:p>
            <a:pPr indent="0" marL="0">
              <a:buNone/>
            </a:pPr>
            <a:r>
              <a:rPr lang="en-US" sz="2200" b="1" dirty="0">
                <a:solidFill>
                  <a:srgbClr val="193B3B"/>
                </a:solidFill>
                <a:latin typeface="Arial Unicode MS" pitchFamily="34" charset="0"/>
                <a:ea typeface="Arial Unicode MS" pitchFamily="34" charset="-122"/>
                <a:cs typeface="Arial Unicode MS" pitchFamily="34" charset="-120"/>
              </a:rPr>
              <a:t>최종 평가 설정</a:t>
            </a:r>
            <a:endParaRPr lang="en-US" sz="2200" dirty="0"/>
          </a:p>
        </p:txBody>
      </p:sp>
      <p:sp>
        <p:nvSpPr>
          <p:cNvPr id="8" name="Text 6"/>
          <p:cNvSpPr/>
          <p:nvPr/>
        </p:nvSpPr>
        <p:spPr>
          <a:xfrm>
            <a:off x="868680" y="2880360"/>
            <a:ext cx="4800600" cy="2578608"/>
          </a:xfrm>
          <a:prstGeom prst="rect">
            <a:avLst/>
          </a:prstGeom>
          <a:noFill/>
          <a:ln/>
        </p:spPr>
        <p:txBody>
          <a:bodyPr wrap="square" lIns="0" tIns="0" rIns="0" bIns="0" rtlCol="0" anchor="ctr"/>
          <a:lstStyle/>
          <a:p>
            <a:pPr indent="0" marL="0">
              <a:buNone/>
            </a:pPr>
            <a:r>
              <a:rPr lang="en-US" sz="1800" dirty="0">
                <a:solidFill>
                  <a:srgbClr val="193B3B"/>
                </a:solidFill>
                <a:latin typeface="Arial Unicode MS" pitchFamily="34" charset="0"/>
                <a:ea typeface="Arial Unicode MS" pitchFamily="34" charset="-122"/>
                <a:cs typeface="Arial Unicode MS" pitchFamily="34" charset="-120"/>
              </a:rPr>
              <a:t>28조합 × 3 seed × 10 반복</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support: 10 / 20 / 30 / 40 / 50</a:t>
            </a:r>
            <a:endParaRPr lang="en-US" sz="1800" dirty="0"/>
          </a:p>
          <a:p>
            <a:pPr indent="0" marL="0">
              <a:buNone/>
            </a:pP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Finder: 128차원 · 22순환</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Predictor: 55epoch</a:t>
            </a:r>
            <a:endParaRPr lang="en-US" sz="1800" dirty="0"/>
          </a:p>
          <a:p>
            <a:pPr indent="0" marL="0">
              <a:buNone/>
            </a:pPr>
            <a:r>
              <a:rPr lang="en-US" sz="1800" dirty="0">
                <a:solidFill>
                  <a:srgbClr val="193B3B"/>
                </a:solidFill>
                <a:latin typeface="Arial Unicode MS" pitchFamily="34" charset="0"/>
                <a:ea typeface="Arial Unicode MS" pitchFamily="34" charset="-122"/>
                <a:cs typeface="Arial Unicode MS" pitchFamily="34" charset="-120"/>
              </a:rPr>
              <a:t>목표약 적응: LR 0.002 · 200/400step</a:t>
            </a:r>
            <a:endParaRPr lang="en-US" sz="1800" dirty="0"/>
          </a:p>
        </p:txBody>
      </p:sp>
      <p:sp>
        <p:nvSpPr>
          <p:cNvPr id="9" name="Text 7"/>
          <p:cNvSpPr/>
          <p:nvPr/>
        </p:nvSpPr>
        <p:spPr>
          <a:xfrm>
            <a:off x="6400800" y="2011680"/>
            <a:ext cx="5120640" cy="457200"/>
          </a:xfrm>
          <a:prstGeom prst="rect">
            <a:avLst/>
          </a:prstGeom>
          <a:noFill/>
          <a:ln/>
        </p:spPr>
        <p:txBody>
          <a:bodyPr wrap="square" lIns="0" tIns="0" rIns="0" bIns="0" rtlCol="0" anchor="ctr"/>
          <a:lstStyle/>
          <a:p>
            <a:pPr indent="0" marL="0">
              <a:buNone/>
            </a:pPr>
            <a:r>
              <a:rPr lang="en-US" sz="2300" b="1" dirty="0">
                <a:solidFill>
                  <a:srgbClr val="193B3B"/>
                </a:solidFill>
                <a:latin typeface="Arial Unicode MS" pitchFamily="34" charset="0"/>
                <a:ea typeface="Arial Unicode MS" pitchFamily="34" charset="-122"/>
                <a:cs typeface="Arial Unicode MS" pitchFamily="34" charset="-120"/>
              </a:rPr>
              <a:t>자료와 코드</a:t>
            </a:r>
            <a:endParaRPr lang="en-US" sz="2300" dirty="0"/>
          </a:p>
        </p:txBody>
      </p:sp>
      <p:sp>
        <p:nvSpPr>
          <p:cNvPr id="10" name="Text 8"/>
          <p:cNvSpPr/>
          <p:nvPr/>
        </p:nvSpPr>
        <p:spPr>
          <a:xfrm>
            <a:off x="6400800" y="2697480"/>
            <a:ext cx="5120640" cy="2834640"/>
          </a:xfrm>
          <a:prstGeom prst="rect">
            <a:avLst/>
          </a:prstGeom>
          <a:noFill/>
          <a:ln/>
        </p:spPr>
        <p:txBody>
          <a:bodyPr wrap="square" lIns="0" tIns="0" rIns="0" bIns="0" rtlCol="0" anchor="ctr"/>
          <a:lstStyle/>
          <a:p>
            <a:pPr indent="0" marL="0">
              <a:buNone/>
            </a:pPr>
            <a:r>
              <a:rPr lang="en-US" sz="1900" dirty="0">
                <a:solidFill>
                  <a:srgbClr val="193B3B"/>
                </a:solidFill>
                <a:latin typeface="Arial Unicode MS" pitchFamily="34" charset="0"/>
                <a:ea typeface="Arial Unicode MS" pitchFamily="34" charset="-122"/>
                <a:cs typeface="Arial Unicode MS" pitchFamily="34" charset="-120"/>
              </a:rPr>
              <a:t>MIMIC-IV 3.1 / eICU-CRD 2.0</a:t>
            </a:r>
            <a:endParaRPr lang="en-US" sz="1900" dirty="0"/>
          </a:p>
          <a:p>
            <a:pPr indent="0" marL="0">
              <a:buNone/>
            </a:pPr>
            <a:r>
              <a:rPr lang="en-US" sz="1900" dirty="0">
                <a:solidFill>
                  <a:srgbClr val="193B3B"/>
                </a:solidFill>
                <a:latin typeface="Arial Unicode MS" pitchFamily="34" charset="0"/>
                <a:ea typeface="Arial Unicode MS" pitchFamily="34" charset="-122"/>
                <a:cs typeface="Arial Unicode MS" pitchFamily="34" charset="-120"/>
              </a:rPr>
              <a:t>PhysioNet 제한접근 임상 자료</a:t>
            </a:r>
            <a:endParaRPr lang="en-US" sz="1900" dirty="0"/>
          </a:p>
          <a:p>
            <a:pPr indent="0" marL="0">
              <a:buNone/>
            </a:pPr>
            <a:endParaRPr lang="en-US" sz="1900" dirty="0"/>
          </a:p>
          <a:p>
            <a:pPr indent="0" marL="0">
              <a:buNone/>
            </a:pPr>
            <a:r>
              <a:rPr lang="en-US" sz="1900" dirty="0">
                <a:solidFill>
                  <a:srgbClr val="193B3B"/>
                </a:solidFill>
                <a:latin typeface="Arial Unicode MS" pitchFamily="34" charset="0"/>
                <a:ea typeface="Arial Unicode MS" pitchFamily="34" charset="-122"/>
                <a:cs typeface="Arial Unicode MS" pitchFamily="34" charset="-120"/>
              </a:rPr>
              <a:t>코드 저장소</a:t>
            </a:r>
            <a:endParaRPr lang="en-US" sz="1900" dirty="0"/>
          </a:p>
          <a:p>
            <a:pPr indent="0" marL="0">
              <a:buNone/>
            </a:pPr>
            <a:r>
              <a:rPr lang="en-US" sz="1900" dirty="0">
                <a:solidFill>
                  <a:srgbClr val="193B3B"/>
                </a:solidFill>
                <a:latin typeface="Arial Unicode MS" pitchFamily="34" charset="0"/>
                <a:ea typeface="Arial Unicode MS" pitchFamily="34" charset="-122"/>
                <a:cs typeface="Arial Unicode MS" pitchFamily="34" charset="-120"/>
              </a:rPr>
              <a:t>github.com/dhrim/CDLD_AST</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Unicode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Unicode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기존 항생제 검사 결과로 다른 항생제의 감수성 예측하기</dc:title>
  <dc:subject>CDLD-AST</dc:subject>
  <dc:creator>Dohyoung Rim</dc:creator>
  <cp:lastModifiedBy>Dohyoung Rim</cp:lastModifiedBy>
  <cp:revision>1</cp:revision>
  <dcterms:created xsi:type="dcterms:W3CDTF">2026-10-08T05:09:38Z</dcterms:created>
  <dcterms:modified xsi:type="dcterms:W3CDTF">2026-10-08T05:09:38Z</dcterms:modified>
</cp:coreProperties>
</file>